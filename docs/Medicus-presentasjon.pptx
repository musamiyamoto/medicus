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nledning" id="{4d1463b6-6921-0ab2-3826-c652943d48c4}">
          <p14:sldIdLst>
            <p14:sldId id="256"/>
            <p14:sldId id="257"/>
          </p14:sldIdLst>
        </p14:section>
        <p14:section name="Oppstart" id="{567bc71a-5fb8-3007-6ab3-dcba29a002e2}">
          <p14:sldIdLst>
            <p14:sldId id="258"/>
            <p14:sldId id="259"/>
            <p14:sldId id="260"/>
          </p14:sldIdLst>
        </p14:section>
        <p14:section name="Innlogging" id="{b32caed6-afd1-e22a-d1cd-3abeebcb5b95}">
          <p14:sldIdLst>
            <p14:sldId id="261"/>
            <p14:sldId id="262"/>
            <p14:sldId id="263"/>
            <p14:sldId id="264"/>
            <p14:sldId id="265"/>
          </p14:sldIdLst>
        </p14:section>
        <p14:section name="Skrivebordet" id="{77682c3a-6ade-9c2a-cd05-0d118ce80acc}">
          <p14:sldIdLst>
            <p14:sldId id="266"/>
            <p14:sldId id="267"/>
            <p14:sldId id="268"/>
            <p14:sldId id="269"/>
          </p14:sldIdLst>
        </p14:section>
        <p14:section name="Applikasjoner" id="{90ae5f6e-159b-c065-dadd-f4f15333c8f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Sikkerhet" id="{92f88316-ba14-687e-d410-8c3fb3576e9d}">
          <p14:sldIdLst>
            <p14:sldId id="279"/>
            <p14:sldId id="280"/>
          </p14:sldIdLst>
        </p14:section>
        <p14:section name="Avslutning" id="{0f0e417a-fb07-7849-54d5-035af134945f}">
          <p14:sldIdLst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Medicus er et Linux-basert operativsystem for norsk helsevesen. Alt i presentasjonen er skjermbilder fra systemet slik det kjører, med syntetiske testpasienter og simulerte helsepersonellkort.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93192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9834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kjerm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Medicus · prototype med syntetiske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 tittel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Medicus · prototype med syntetiske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icus-logo" descr="Medicus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312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39319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Medicus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9834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Trygg arbeidsstasjon for helsepersonell – fra oppstart til avslutning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Hva er Medicus</a:t>
            </a:r>
            <a:endParaRPr lang="en-US" sz="3200" dirty="0"/>
          </a:p>
        </p:txBody>
      </p:sp>
      <p:sp>
        <p:nvSpPr>
          <p:cNvPr id="3" name="Innlogging med kort kort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Innlogging med kort ikonring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logging med kort ikon" descr="Innlogging med k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Innlogging med kort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Helsepersonellkort og PIN. Ingen passord. Nødtilgang når liv står på spill.</a:t>
            </a:r>
            <a:endParaRPr lang="en-US" sz="1400" dirty="0"/>
          </a:p>
        </p:txBody>
      </p:sp>
      <p:sp>
        <p:nvSpPr>
          <p:cNvPr id="8" name="Klar for helsenettet kort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Klar for helsenettet ikonring"/>
          <p:cNvSpPr/>
          <p:nvPr/>
        </p:nvSpPr>
        <p:spPr>
          <a:xfrm>
            <a:off x="3664458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Klar for helsenettet ikon" descr="Klar for helsenett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Klar for helsenettet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Ett grensesnitt mot Helsenorge, Kjernejournal og e-resept – i dag mot en simulator.</a:t>
            </a:r>
            <a:endParaRPr lang="en-US" sz="1400" dirty="0"/>
          </a:p>
        </p:txBody>
      </p:sp>
      <p:sp>
        <p:nvSpPr>
          <p:cNvPr id="13" name="Herdet sikkerhet kort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Herdet sikkerhet ikonring"/>
          <p:cNvSpPr/>
          <p:nvPr/>
        </p:nvSpPr>
        <p:spPr>
          <a:xfrm>
            <a:off x="6505956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Herdet sikkerhet ikon" descr="Herdet sikkerh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74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Herdet sikkerhet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Brannmur, USB-lås, virusskanning, VPN og ingen programkjøring fra hjemmemappen.</a:t>
            </a:r>
            <a:endParaRPr lang="en-US" sz="1400" dirty="0"/>
          </a:p>
        </p:txBody>
      </p:sp>
      <p:sp>
        <p:nvSpPr>
          <p:cNvPr id="18" name="Følger arbeidsstedet kort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Følger arbeidsstedet ikonring"/>
          <p:cNvSpPr/>
          <p:nvPr/>
        </p:nvSpPr>
        <p:spPr>
          <a:xfrm>
            <a:off x="934745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ølger arbeidsstedet ikon" descr="Følger arbeidssted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8745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Følger arbeidsstedet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PC-en vet hvilket sykehus den står på. Stillingen din følger med.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Linux-basert, bare for maskiner eid av helseforetak, kommuner og det offentlige. Egen design, ingenting kopiert fra Windows.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Oppstart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Fra du trykker på av/på-knappen til innloggingsskjermen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Oppstartsmenyen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Starter av seg selv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etter 5 sekunder.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Sikker modus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feilsøking.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Låst: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ingen kan endre oppstartskommandoen. Det stenger en vanlig vei til å omgå innloggingen.</a:t>
            </a:r>
            <a:endParaRPr lang="en-US" sz="1500" dirty="0"/>
          </a:p>
        </p:txBody>
      </p:sp>
      <p:sp>
        <p:nvSpPr>
          <p:cNvPr id="4" name="Oppstartsmenyen ramme"/>
          <p:cNvSpPr/>
          <p:nvPr/>
        </p:nvSpPr>
        <p:spPr>
          <a:xfrm>
            <a:off x="4526280" y="1371600"/>
            <a:ext cx="7132320" cy="534924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Oppstartsmenyen" descr="Oppstartsmeny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5349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Hjerterytmen viser at noe skjer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Én fast lasteanimasjon: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en EKG-linje med puls.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Samme overalt: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under oppstart, innlogging og i appene.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Ingen tekst: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pulsen alene sier at maskinen jobber.</a:t>
            </a:r>
            <a:endParaRPr lang="en-US" sz="1500" dirty="0"/>
          </a:p>
        </p:txBody>
      </p:sp>
      <p:sp>
        <p:nvSpPr>
          <p:cNvPr id="4" name="Hjerterytmen viser at noe skjer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Hjerterytmen viser at noe skjer" descr="Hjerterytmen viser at noe skj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Innlogging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Helsepersonellkort og PIN – eller nødtilgang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Innloggingsskjermen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Sett inn kortet,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skriv PIN.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Tre feil PIN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sperrer kortet – skjermen sier tydelig at IT må låse det opp.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Arbeidsstedet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under logoen er PC-ens faste plassering.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Demo-panelet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nederst simulerer kortleser og arbeidssted.</a:t>
            </a:r>
            <a:endParaRPr lang="en-US" sz="1500" dirty="0"/>
          </a:p>
        </p:txBody>
      </p:sp>
      <p:sp>
        <p:nvSpPr>
          <p:cNvPr id="4" name="Innloggingsskjermen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Innloggingsskjermen" descr="Innloggingsskjer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Kortet er satt inn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Navn, stilling og arbeidssted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vises med en gang.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Én knapp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å sette inn og ta ut kortet.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Ta ut kortet: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du logges ut med en gang.</a:t>
            </a:r>
            <a:endParaRPr lang="en-US" sz="1500" dirty="0"/>
          </a:p>
        </p:txBody>
      </p:sp>
      <p:sp>
        <p:nvSpPr>
          <p:cNvPr id="4" name="Kortet er satt inn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Kortet er satt inn" descr="Kortet er satt i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Arbeidsstedet følger PC-en</a:t>
            </a:r>
            <a:endParaRPr lang="en-US" sz="3200" dirty="0"/>
          </a:p>
        </p:txBody>
      </p:sp>
      <p:sp>
        <p:nvSpPr>
          <p:cNvPr id="3" name="Samme lege på Ullevål ramme"/>
          <p:cNvSpPr/>
          <p:nvPr/>
        </p:nvSpPr>
        <p:spPr>
          <a:xfrm>
            <a:off x="548640" y="1371600"/>
            <a:ext cx="5394960" cy="3203258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amme lege på Ullevål" descr="Samme lege på Ullevå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3203258"/>
          </a:xfrm>
          <a:prstGeom prst="rect">
            <a:avLst/>
          </a:prstGeom>
        </p:spPr>
      </p:pic>
      <p:sp>
        <p:nvSpPr>
          <p:cNvPr id="5" name="Samme lege på St. Olavs ramme"/>
          <p:cNvSpPr/>
          <p:nvPr/>
        </p:nvSpPr>
        <p:spPr>
          <a:xfrm>
            <a:off x="6245352" y="1371600"/>
            <a:ext cx="5394960" cy="3203258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Samme lege på St. Olavs" descr="Samme lege på St. Olav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371600"/>
            <a:ext cx="5394960" cy="320325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8920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Ullevål: Overlege, kardiologi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245352" y="48920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St. Olavs: Gjesteoverlege, kardiologi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Kortet sier hvem du er. PC-en sier hvor du er. Stillingen hentes fra det arbeidsstedet.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Nødtilgang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Kort + begrunnelse,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ingen PIN – for å spare tid.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Bare kritisk informasjon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 30 minutter.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Logges med navn,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kontrolleres i etterkant, og pasienten varsles.</a:t>
            </a:r>
            <a:endParaRPr lang="en-US" sz="1500" dirty="0"/>
          </a:p>
        </p:txBody>
      </p:sp>
      <p:sp>
        <p:nvSpPr>
          <p:cNvPr id="4" name="Nødtilgang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Nødtilgang" descr="Nødtilg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Skrivebordet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Startmeny, snarveier og standardprogrammer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Skrivebordet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Egne bakgrunnsbilder: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Nordlys, Fjord, Skog og Fjell.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Snarveier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til Medicus-appene, Hjem og Papirkurv.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Oppgavelinjen: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Start-knapp, snarveier til Nettleser og Files, åpne vinduer, nett, lyd, klokke og navn.</a:t>
            </a:r>
            <a:endParaRPr lang="en-US" sz="1500" dirty="0"/>
          </a:p>
        </p:txBody>
      </p:sp>
      <p:sp>
        <p:nvSpPr>
          <p:cNvPr id="4" name="Skrivebordet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Skrivebordet" descr="Skrivebord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Startmenyen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Favoritter: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alle Medicus-appene først.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Profilbilde: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nøytral helsepersonell-figur.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Ingen terminal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og ingen «kjør kommando».</a:t>
            </a:r>
            <a:endParaRPr lang="en-US" sz="1500" dirty="0"/>
          </a:p>
        </p:txBody>
      </p:sp>
      <p:sp>
        <p:nvSpPr>
          <p:cNvPr id="4" name="Startmenyen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Startmenyen" descr="Startmeny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Files – filbehandleren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Ryddig sidepanel: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Hjem, Skrivebord, Dokumenter, Bilder, Nedlastinger og Papirkurv.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Store ikoner,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mapper først, ingen menylinje.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Ett klikk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fra snarveien på oppgavelinjen.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Enkle navn: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Files, Pictures, Text og Mouse. Text er Medicus' egen teksteditor.</a:t>
            </a:r>
            <a:endParaRPr lang="en-US" sz="1500" dirty="0"/>
          </a:p>
        </p:txBody>
      </p:sp>
      <p:sp>
        <p:nvSpPr>
          <p:cNvPr id="4" name="Files – filbehandleren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Files – filbehandleren" descr="Files – filbehandler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Applikasjoner og funksjoner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Pasientjournal, Post, nettleser, sikkerhet og verktøy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Pasientjournal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Kritisk informasjon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øverst: allergier, tilstander, implantater.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Besøk og notater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fra alle virksomheter samlet.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E-resept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leger.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Hver åpning logges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og vises for pasienten.</a:t>
            </a:r>
            <a:endParaRPr lang="en-US" sz="1500" dirty="0"/>
          </a:p>
        </p:txBody>
      </p:sp>
      <p:sp>
        <p:nvSpPr>
          <p:cNvPr id="4" name="Pasientjournal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Pasientjournal" descr="Pasientjour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Medicus Post – svindelvarsel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Grønn: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verifisert helsepersonell i helsenettet.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Rød: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mistenkelig e-post med forklaring på vanlig norsk.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Lenker og vedlegg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fra utsiden er blokkert.</a:t>
            </a:r>
            <a:endParaRPr lang="en-US" sz="1500" dirty="0"/>
          </a:p>
        </p:txBody>
      </p:sp>
      <p:sp>
        <p:nvSpPr>
          <p:cNvPr id="4" name="Medicus Post – svindelvarsel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Medicus Post – svindelvarsel" descr="Medicus Post – svindelvars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Bildedeling: røntgen og MR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DICOM-bilder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vises rett i meldingen.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Lysstyrke, kontrast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og inverter.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Virusskannet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før de slippes inn.</a:t>
            </a:r>
            <a:endParaRPr lang="en-US" sz="1500" dirty="0"/>
          </a:p>
        </p:txBody>
      </p:sp>
      <p:sp>
        <p:nvSpPr>
          <p:cNvPr id="4" name="Bildedeling: røntgen og MR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Bildedeling: røntgen og MR" descr="Bildedeling: røntgen og M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Medicus Nettleser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Egen nettleser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med eget ikon: en lyseblå jordklode med en rakett i bane.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Bare godkjente nettsteder: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helse, offentlige tjenester og norske nyheter.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Ingen reklame eller sporing,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ingenting lagres, ingen andre merkevarer.</a:t>
            </a:r>
            <a:endParaRPr lang="en-US" sz="1500" dirty="0"/>
          </a:p>
        </p:txBody>
      </p:sp>
      <p:sp>
        <p:nvSpPr>
          <p:cNvPr id="4" name="Medicus Nettleser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Medicus Nettleser" descr="Medicus Nettle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Sikkerhetssenter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Sjekker live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at vernet virker.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Grønt: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 orden. Rødt: kontakt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Brannmur, USB, virus,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logg, oppdateringer, VPN.</a:t>
            </a:r>
            <a:endParaRPr lang="en-US" sz="1500" dirty="0"/>
          </a:p>
        </p:txBody>
      </p:sp>
      <p:sp>
        <p:nvSpPr>
          <p:cNvPr id="4" name="Sikkerhetssenter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Sikkerhetssenter" descr="Sikkerhetssen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Pasienten ser hvem som har sett journalen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Innbyggerportalen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(simulert Helsenorge).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Navn, rolle, sted og begrunnelse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hver åpning.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Nødtilgang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er tydelig merket.</a:t>
            </a:r>
            <a:endParaRPr lang="en-US" sz="1500" dirty="0"/>
          </a:p>
        </p:txBody>
      </p:sp>
      <p:sp>
        <p:nvSpPr>
          <p:cNvPr id="4" name="Pasienten ser hvem som har sett journalen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Pasienten ser hvem som har sett journalen" descr="Pasienten ser hvem som har sett journal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Forespørsler fra myndigheter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Bare med lovhjemmel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som gjelder for akkurat den myndigheten.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Politi, barnevern, NAV, tilsyn: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hver sine hjemler. Andre trenger samtykke.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Et menneske vurderer,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minst mulig utleveres, pasienten varsles.</a:t>
            </a:r>
            <a:endParaRPr lang="en-US" sz="1500" dirty="0"/>
          </a:p>
        </p:txBody>
      </p:sp>
      <p:sp>
        <p:nvSpPr>
          <p:cNvPr id="4" name="Forespørsler fra myndigheter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Forespørsler fra myndigheter" descr="Forespørsler fra myndigh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Medicus Kalkulator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Kalkulator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med desimalkomma.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Alle enheter: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µg–kg, µl–liter, teskje og spiseskje.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Vekt ↔ volum: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f.eks. liter → kg, med tetthet for blod, saltvann m.m.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Advarsel: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ikke for legemiddeldosering.</a:t>
            </a:r>
            <a:endParaRPr lang="en-US" sz="1500" dirty="0"/>
          </a:p>
        </p:txBody>
      </p:sp>
      <p:sp>
        <p:nvSpPr>
          <p:cNvPr id="4" name="Medicus Kalkulator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Medicus Kalkulator" descr="Medicus Kalk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Sikkerhet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Lag på lag – ingen enkeltfeil åpner alt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Vernet i lag</a:t>
            </a:r>
            <a:endParaRPr lang="en-US" sz="3200" dirty="0"/>
          </a:p>
        </p:txBody>
      </p:sp>
      <p:sp>
        <p:nvSpPr>
          <p:cNvPr id="3" name="Brannmur kort"/>
          <p:cNvSpPr/>
          <p:nvPr/>
        </p:nvSpPr>
        <p:spPr>
          <a:xfrm>
            <a:off x="548640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Brannmur ikonring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rannmur ikon" descr="Brannm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459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Brannmur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Ingen kan koble seg til utenfra. Apper når bare helsenettet.</a:t>
            </a:r>
            <a:endParaRPr lang="en-US" sz="1400" dirty="0"/>
          </a:p>
        </p:txBody>
      </p:sp>
      <p:sp>
        <p:nvSpPr>
          <p:cNvPr id="8" name="USB-lås kort"/>
          <p:cNvSpPr/>
          <p:nvPr/>
        </p:nvSpPr>
        <p:spPr>
          <a:xfrm>
            <a:off x="3390138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USB-lås ikonring"/>
          <p:cNvSpPr/>
          <p:nvPr/>
        </p:nvSpPr>
        <p:spPr>
          <a:xfrm>
            <a:off x="3664458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USB-lås ikon" descr="USB-lå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6459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USB-lås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Minnepinner blokkert. Bare tastatur, mus, hodesett og kortleser.</a:t>
            </a:r>
            <a:endParaRPr lang="en-US" sz="1400" dirty="0"/>
          </a:p>
        </p:txBody>
      </p:sp>
      <p:sp>
        <p:nvSpPr>
          <p:cNvPr id="13" name="Virusskanning kort"/>
          <p:cNvSpPr/>
          <p:nvPr/>
        </p:nvSpPr>
        <p:spPr>
          <a:xfrm>
            <a:off x="6231636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Virusskanning ikonring"/>
          <p:cNvSpPr/>
          <p:nvPr/>
        </p:nvSpPr>
        <p:spPr>
          <a:xfrm>
            <a:off x="6505956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Virusskanning ikon" descr="Virusska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6459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Virusskanning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 vedlegg skannes før de slippes inn.</a:t>
            </a:r>
            <a:endParaRPr lang="en-US" sz="1400" dirty="0"/>
          </a:p>
        </p:txBody>
      </p:sp>
      <p:sp>
        <p:nvSpPr>
          <p:cNvPr id="18" name="VPN med kill switch kort"/>
          <p:cNvSpPr/>
          <p:nvPr/>
        </p:nvSpPr>
        <p:spPr>
          <a:xfrm>
            <a:off x="9073134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VPN med kill switch ikonring"/>
          <p:cNvSpPr/>
          <p:nvPr/>
        </p:nvSpPr>
        <p:spPr>
          <a:xfrm>
            <a:off x="9347454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VPN med kill switch ikon" descr="VPN med kill swit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6459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VPN med kill switch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trafikk kryptert til helsenettet, ingen annen vei ut.</a:t>
            </a:r>
            <a:endParaRPr lang="en-US" sz="1400" dirty="0"/>
          </a:p>
        </p:txBody>
      </p:sp>
      <p:sp>
        <p:nvSpPr>
          <p:cNvPr id="23" name="Ingen programkjøring kort"/>
          <p:cNvSpPr/>
          <p:nvPr/>
        </p:nvSpPr>
        <p:spPr>
          <a:xfrm>
            <a:off x="548640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24" name="Ingen programkjøring ikonring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ngen programkjøring ikon" descr="Ingen programkjø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9768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Ingen programkjøring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Ikke fra hjemmemappe, nedlastinger eller temp-mapper.</a:t>
            </a:r>
            <a:endParaRPr lang="en-US" sz="1400" dirty="0"/>
          </a:p>
        </p:txBody>
      </p:sp>
      <p:sp>
        <p:nvSpPr>
          <p:cNvPr id="28" name="Øktvakt kort"/>
          <p:cNvSpPr/>
          <p:nvPr/>
        </p:nvSpPr>
        <p:spPr>
          <a:xfrm>
            <a:off x="3390138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29" name="Øktvakt ikonring"/>
          <p:cNvSpPr/>
          <p:nvPr/>
        </p:nvSpPr>
        <p:spPr>
          <a:xfrm>
            <a:off x="3664458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Øktvakt ikon" descr="Øktvak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1618" y="429768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664458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Øktvakt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3664458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Kortet ut – økten avsluttes umiddelbart.</a:t>
            </a:r>
            <a:endParaRPr lang="en-US" sz="1400" dirty="0"/>
          </a:p>
        </p:txBody>
      </p:sp>
      <p:sp>
        <p:nvSpPr>
          <p:cNvPr id="33" name="Sikkerhetslogg kort"/>
          <p:cNvSpPr/>
          <p:nvPr/>
        </p:nvSpPr>
        <p:spPr>
          <a:xfrm>
            <a:off x="6231636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34" name="Sikkerhetslogg ikonring"/>
          <p:cNvSpPr/>
          <p:nvPr/>
        </p:nvSpPr>
        <p:spPr>
          <a:xfrm>
            <a:off x="6505956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Sikkerhetslogg ikon" descr="Sikkerhetslog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4297680"/>
            <a:ext cx="365760" cy="3657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505956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Sikkerhetslogg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6505956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Endringer i innlogging, brannmur og oppsett logges.</a:t>
            </a:r>
            <a:endParaRPr lang="en-US" sz="1400" dirty="0"/>
          </a:p>
        </p:txBody>
      </p:sp>
      <p:sp>
        <p:nvSpPr>
          <p:cNvPr id="38" name="Oppdateringer kort"/>
          <p:cNvSpPr/>
          <p:nvPr/>
        </p:nvSpPr>
        <p:spPr>
          <a:xfrm>
            <a:off x="9073134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39" name="Oppdateringer ikonring"/>
          <p:cNvSpPr/>
          <p:nvPr/>
        </p:nvSpPr>
        <p:spPr>
          <a:xfrm>
            <a:off x="9347454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Oppdateringer ikon" descr="Oppdatering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4614" y="4297680"/>
            <a:ext cx="365760" cy="36576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347454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Oppdateringer</a:t>
            </a:r>
            <a:endParaRPr lang="en-US" sz="1700" dirty="0"/>
          </a:p>
        </p:txBody>
      </p:sp>
      <p:sp>
        <p:nvSpPr>
          <p:cNvPr id="42" name="Text 32"/>
          <p:cNvSpPr txBox="1"/>
          <p:nvPr/>
        </p:nvSpPr>
        <p:spPr>
          <a:xfrm>
            <a:off x="9347454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Sikkerhetsoppdateringer installeres automatisk.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Avslutning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Logg ut, lås eller slå av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Av/på-menyen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Lås skjerm,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hvilemodus, start på nytt, slå av, logg ut.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Ingen dvale: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den ville skrevet pasientdata til disk.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Ingen «bytt bruker»: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det er kortet som bestemmer.</a:t>
            </a:r>
            <a:endParaRPr lang="en-US" sz="1500" dirty="0"/>
          </a:p>
        </p:txBody>
      </p:sp>
      <p:sp>
        <p:nvSpPr>
          <p:cNvPr id="4" name="Av/på-menyen ram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Av/på-menyen" descr="Av/på-meny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Veien videre</a:t>
            </a:r>
            <a:endParaRPr lang="en-US" sz="3200" dirty="0"/>
          </a:p>
        </p:txBody>
      </p:sp>
      <p:sp>
        <p:nvSpPr>
          <p:cNvPr id="3" name="Avtale med Norsk helsenett kort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Avtale med Norsk helsenett ikonring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vtale med Norsk helsenett ikon" descr="Avtale med Norsk helsene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Avtale med Norsk helsenett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Medlemskap, HelseID og godkjenning – grensesnittet er klart.</a:t>
            </a:r>
            <a:endParaRPr lang="en-US" sz="1400" dirty="0"/>
          </a:p>
        </p:txBody>
      </p:sp>
      <p:sp>
        <p:nvSpPr>
          <p:cNvPr id="8" name="Ekte helsepersonellkort kort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Ekte helsepersonellkort ikonring"/>
          <p:cNvSpPr/>
          <p:nvPr/>
        </p:nvSpPr>
        <p:spPr>
          <a:xfrm>
            <a:off x="3664458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Ekte helsepersonellkort ikon" descr="Ekte helsepersonellk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Ekte helsepersonellkort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Bytt simulert kortleser mot ekte (PKCS#11).</a:t>
            </a:r>
            <a:endParaRPr lang="en-US" sz="1400" dirty="0"/>
          </a:p>
        </p:txBody>
      </p:sp>
      <p:sp>
        <p:nvSpPr>
          <p:cNvPr id="13" name="Installasjon på disk kort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Installasjon på disk ikonring"/>
          <p:cNvSpPr/>
          <p:nvPr/>
        </p:nvSpPr>
        <p:spPr>
          <a:xfrm>
            <a:off x="6505956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nstallasjon på disk ikon" descr="Installasjon på 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74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Installasjon på disk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Egen installasjonsmodus for IT, med full diskkryptering.</a:t>
            </a:r>
            <a:endParaRPr lang="en-US" sz="1400" dirty="0"/>
          </a:p>
        </p:txBody>
      </p:sp>
      <p:sp>
        <p:nvSpPr>
          <p:cNvPr id="18" name="Sikkerhetsrevisjon kort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Sikkerhetsrevisjon ikonring"/>
          <p:cNvSpPr/>
          <p:nvPr/>
        </p:nvSpPr>
        <p:spPr>
          <a:xfrm>
            <a:off x="934745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Sikkerhetsrevisjon ikon" descr="Sikkerhetsrevisj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8745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Sikkerhetsrevisjon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Ekstern penetrasjonstest, Normen, GDPR og MDR-vurdering.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icus">
  <a:themeElements>
    <a:clrScheme name="Medicus">
      <a:dk1>
        <a:srgbClr val="17241C"/>
      </a:dk1>
      <a:lt1>
        <a:srgbClr val="FFFFFF"/>
      </a:lt1>
      <a:dk2>
        <a:srgbClr val="0F4F2F"/>
      </a:dk2>
      <a:lt2>
        <a:srgbClr val="EEF5F0"/>
      </a:lt2>
      <a:accent1>
        <a:srgbClr val="1A7F4B"/>
      </a:accent1>
      <a:accent2>
        <a:srgbClr val="7FE0AD"/>
      </a:accent2>
      <a:accent3>
        <a:srgbClr val="B3261E"/>
      </a:accent3>
      <a:accent4>
        <a:srgbClr val="C98A00"/>
      </a:accent4>
      <a:accent5>
        <a:srgbClr val="2FA36B"/>
      </a:accent5>
      <a:accent6>
        <a:srgbClr val="56655B"/>
      </a:accent6>
      <a:hlink>
        <a:srgbClr val="1A7F4B"/>
      </a:hlink>
      <a:folHlink>
        <a:srgbClr val="0F4F2F"/>
      </a:folHlink>
    </a:clrScheme>
    <a:fontScheme name="Medicu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Medicus</dc:title>
  <dc:subject>Slik ser Medicus ut og fungerer</dc:subject>
  <dc:creator>Medicus</dc:creator>
  <cp:lastModifiedBy>Medicus</cp:lastModifiedBy>
  <cp:revision>1</cp:revision>
  <dcterms:created xsi:type="dcterms:W3CDTF">2026-10-23T21:23:11Z</dcterms:created>
  <dcterms:modified xsi:type="dcterms:W3CDTF">2026-10-23T21:23:11Z</dcterms:modified>
</cp:coreProperties>
</file>