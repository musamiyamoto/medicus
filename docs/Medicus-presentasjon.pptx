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nledning" id="{cc544c30-41a6-0199-eef6-a896d7196372}">
          <p14:sldIdLst>
            <p14:sldId id="256"/>
            <p14:sldId id="257"/>
          </p14:sldIdLst>
        </p14:section>
        <p14:section name="Oppstart" id="{78302587-bdb0-fcf0-8da9-4d50ab784c6b}">
          <p14:sldIdLst>
            <p14:sldId id="258"/>
            <p14:sldId id="259"/>
            <p14:sldId id="260"/>
          </p14:sldIdLst>
        </p14:section>
        <p14:section name="Innlogging" id="{0c3a35ef-c3ca-2602-1019-608d482e0028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krivebordet" id="{f8faa296-d387-04b1-ff72-860ba17470e6}">
          <p14:sldIdLst>
            <p14:sldId id="267"/>
            <p14:sldId id="268"/>
            <p14:sldId id="269"/>
            <p14:sldId id="270"/>
            <p14:sldId id="271"/>
          </p14:sldIdLst>
        </p14:section>
        <p14:section name="Applikasjoner" id="{a25cccd0-3792-0977-4fe4-cc734e9d8ee9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Sikkerhet" id="{91a05da8-f915-7ec3-cb78-02be722053ba}">
          <p14:sldIdLst>
            <p14:sldId id="282"/>
            <p14:sldId id="283"/>
          </p14:sldIdLst>
        </p14:section>
        <p14:section name="Avslutning" id="{5cd5001b-75b7-93da-ea5e-d051b39b7f12}">
          <p14:sldIdLst>
            <p14:sldId id="284"/>
            <p14:sldId id="285"/>
          </p14:sldIdLst>
        </p14:section>
        <p14:section name="Pilot" id="{7e576bcf-0e00-1838-bd03-05c918706248}">
          <p14:sldIdLst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Medicus er et Linux-basert operativsystem for norsk helsevesen. Alt i presentasjonen er skjermbilder fra systemet slik det kjører, med syntetiske testpasienter og simulerte helsepersonellkort. Systemet er på norsk, med engelsk som valg på innloggingsskjermen.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Demolenke: https://federation-only-emerald-planets.trycloudflare.com/demo – PIN 1234 for alle demokort.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te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9319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9834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jerm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Medicus · prototype med syntetiske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 tittel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Medicus · prototype med syntetiske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icus-logo" descr="Medicus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3931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Medicus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9834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Trygg arbeidsstasjon for helsepersonell – fra oppstart til avslutning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Hva er Medicus</a:t>
            </a:r>
            <a:endParaRPr lang="en-US" sz="3200" dirty="0"/>
          </a:p>
        </p:txBody>
      </p:sp>
      <p:sp>
        <p:nvSpPr>
          <p:cNvPr id="3" name="Innlogging med kort kort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Innlogging med kort ikonrin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logging med kort ikon" descr="Innlogging med k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Innlogging med kort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Helsepersonellkort og PIN. Ingen passord. Nødtilgang når liv står på spill.</a:t>
            </a:r>
            <a:endParaRPr lang="en-US" sz="1400" dirty="0"/>
          </a:p>
        </p:txBody>
      </p:sp>
      <p:sp>
        <p:nvSpPr>
          <p:cNvPr id="8" name="Klar for helsenettet kort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Klar for helsenettet ikonring"/>
          <p:cNvSpPr/>
          <p:nvPr/>
        </p:nvSpPr>
        <p:spPr>
          <a:xfrm>
            <a:off x="366445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Klar for helsenettet ikon" descr="Klar for helsenett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Klar for helsenettet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Ett grensesnitt mot Helsenorge, Kjernejournal og e-resept – i dag mot en simulator.</a:t>
            </a:r>
            <a:endParaRPr lang="en-US" sz="1400" dirty="0"/>
          </a:p>
        </p:txBody>
      </p:sp>
      <p:sp>
        <p:nvSpPr>
          <p:cNvPr id="13" name="Herdet sikkerhet kort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Herdet sikkerhet ikonring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erdet sikkerhet ikon" descr="Herdet sikkerh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Herdet sikkerhet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Brannmur, USB-lås, virusskanning, VPN og ingen programkjøring fra hjemmemappen.</a:t>
            </a:r>
            <a:endParaRPr lang="en-US" sz="1400" dirty="0"/>
          </a:p>
        </p:txBody>
      </p:sp>
      <p:sp>
        <p:nvSpPr>
          <p:cNvPr id="18" name="Følger arbeidsstedet kort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Følger arbeidsstedet ikonring"/>
          <p:cNvSpPr/>
          <p:nvPr/>
        </p:nvSpPr>
        <p:spPr>
          <a:xfrm>
            <a:off x="9347454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ølger arbeidsstedet ikon" descr="Følger arbeidssted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874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Følger arbeidsstedet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PC-en vet hvilket sykehus den står på. Stillingen din følger med.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Linux-basert, bare for maskiner eid av helseforetak, kommuner og det offentlige. Egen design, ingenting kopiert fra Windows.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Oppstart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Fra du trykker på av/på-knappen til innloggingsskjermen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Oppstartsmenyen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Starter av seg selv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etter 5 sekunder.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Sikker modus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feilsøking.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Låst: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ingen kan endre oppstartskommandoen. Det stenger en vanlig vei til å omgå innloggingen.</a:t>
            </a:r>
            <a:endParaRPr lang="en-US" sz="1500" dirty="0"/>
          </a:p>
        </p:txBody>
      </p:sp>
      <p:sp>
        <p:nvSpPr>
          <p:cNvPr id="4" name="Oppstartsmenyen ramme"/>
          <p:cNvSpPr/>
          <p:nvPr/>
        </p:nvSpPr>
        <p:spPr>
          <a:xfrm>
            <a:off x="4526280" y="1371600"/>
            <a:ext cx="7132320" cy="534924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Oppstartsmenyen" descr="Oppstartsmeny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Hjerterytmen viser at noe skjer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Én fast lasteanimasjon: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en EKG-linje med puls.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Samme overalt: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under oppstart, innlogging og i appene.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 tekst: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pulsen alene sier at maskinen jobber.</a:t>
            </a:r>
            <a:endParaRPr lang="en-US" sz="1500" dirty="0"/>
          </a:p>
        </p:txBody>
      </p:sp>
      <p:sp>
        <p:nvSpPr>
          <p:cNvPr id="4" name="Hjerterytmen viser at noe skjer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Hjerterytmen viser at noe skjer" descr="Hjerterytmen viser at noe skj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Innlogging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Helsepersonellkort og PIN – eller nødtilgang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Innloggingsskjermen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Sett inn kortet,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skriv PIN.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Tre feil PIN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sperrer kortet – skjermen sier tydelig at IT må låse det opp.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Arbeidsstedet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under logoen er PC-ens faste plassering.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Demo-panelet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nederst simulerer kortleser og arbeidssted.</a:t>
            </a:r>
            <a:endParaRPr lang="en-US" sz="1500" dirty="0"/>
          </a:p>
        </p:txBody>
      </p:sp>
      <p:sp>
        <p:nvSpPr>
          <p:cNvPr id="4" name="Innloggingsskjermen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nnloggingsskjermen" descr="Innloggingsskjerm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Kortet er satt inn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Navn, stilling og arbeidssted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vises med en gang.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Én knapp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å sette inn og ta ut kortet.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Ta ut kortet: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skjermen låses med en gang. Tilbake innen 15 minutter med samme kort og PIN, og ingenting er tapt.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Logger noen andre inn,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eller det går 15 minutter: økten avsluttes og hjemmemappen tømmes.</a:t>
            </a:r>
            <a:endParaRPr lang="en-US" sz="1500" dirty="0"/>
          </a:p>
        </p:txBody>
      </p:sp>
      <p:sp>
        <p:nvSpPr>
          <p:cNvPr id="4" name="Kortet er satt inn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Kortet er satt inn" descr="Kortet er satt in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Norsk eller engelsk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Én knapp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på innloggingsskjermen: Norsk eller English.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Hele økten følger med: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menyer, Startmenyen, nettleseren og Medicus-appene.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Nordsamisk tastatur: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Alt+Shift bytter mellom norsk og samisk oppsett.</a:t>
            </a:r>
            <a:endParaRPr lang="en-US" sz="1500" dirty="0"/>
          </a:p>
        </p:txBody>
      </p:sp>
      <p:sp>
        <p:nvSpPr>
          <p:cNvPr id="4" name="Norsk eller engelsk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Norsk eller engelsk" descr="Norsk eller engel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Arbeidsstedet følger PC-en</a:t>
            </a:r>
            <a:endParaRPr lang="en-US" sz="3200" dirty="0"/>
          </a:p>
        </p:txBody>
      </p:sp>
      <p:sp>
        <p:nvSpPr>
          <p:cNvPr id="3" name="Samme lege på Ullevål ramme"/>
          <p:cNvSpPr/>
          <p:nvPr/>
        </p:nvSpPr>
        <p:spPr>
          <a:xfrm>
            <a:off x="548640" y="1371600"/>
            <a:ext cx="5394960" cy="3203258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Samme lege på Ullevål" descr="Samme lege på Ullevå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94960" cy="3203258"/>
          </a:xfrm>
          <a:prstGeom prst="rect">
            <a:avLst/>
          </a:prstGeom>
        </p:spPr>
      </p:pic>
      <p:sp>
        <p:nvSpPr>
          <p:cNvPr id="5" name="Samme lege på St. Olavs ramme"/>
          <p:cNvSpPr/>
          <p:nvPr/>
        </p:nvSpPr>
        <p:spPr>
          <a:xfrm>
            <a:off x="6245352" y="1371600"/>
            <a:ext cx="5394960" cy="3203258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Samme lege på St. Olavs" descr="Samme lege på St. Olav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394960" cy="32032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92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Ullevål: Overlege, kardiologi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245352" y="4892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St. Olavs: Gjesteoverlege, kardiologi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Kortet sier hvem du er. PC-en sier hvor du er. Stillingen hentes fra det arbeidsstedet.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Nødtilgang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Kort + begrunnelse,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ingen PIN – for å spare tid.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Bare kritisk informasjon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 30 minutter.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Logges med navn,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kontrolleres i etterkant, og pasienten varsles.</a:t>
            </a:r>
            <a:endParaRPr lang="en-US" sz="1500" dirty="0"/>
          </a:p>
        </p:txBody>
      </p:sp>
      <p:sp>
        <p:nvSpPr>
          <p:cNvPr id="4" name="Nødtilgang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Nødtilgang" descr="Nødtilg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Skrivebordet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Startmeny, snarveier og standardprogrammer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Skrivebordet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Egne bakgrunnsbilder: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Nordlys, Fjord, Skog og Fjell.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Snarveier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til Medicus-appene, Hjem og Papirkurv.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Oppgavelinjen: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Start-knapp, snarveier til Nettleser og Files, åpne vinduer, nett, lyd, klokke og navn.</a:t>
            </a:r>
            <a:endParaRPr lang="en-US" sz="1500" dirty="0"/>
          </a:p>
        </p:txBody>
      </p:sp>
      <p:sp>
        <p:nvSpPr>
          <p:cNvPr id="4" name="Skrivebordet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Skrivebordet" descr="Skrivebord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Startmenyen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Favoritter: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alle Medicus-appene først.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Profilbilde: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nøytral helsepersonell-figur.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 terminal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og ingen «kjør kommando».</a:t>
            </a:r>
            <a:endParaRPr lang="en-US" sz="1500" dirty="0"/>
          </a:p>
        </p:txBody>
      </p:sp>
      <p:sp>
        <p:nvSpPr>
          <p:cNvPr id="4" name="Startmenyen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Startmenyen" descr="Startmeny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Files – filbehandleren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Ryddig sidepanel: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Hjem, Skrivebord, Dokumenter, Bilder, Nedlastinger og Papirkurv.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Store ikoner,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mapper først, ingen menylinje.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Ett klikk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fra snarveien på oppgavelinjen.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Enkle navn: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Files, Pictures, Text og Mouse. Text er Medicus' egen teksteditor.</a:t>
            </a:r>
            <a:endParaRPr lang="en-US" sz="1500" dirty="0"/>
          </a:p>
        </p:txBody>
      </p:sp>
      <p:sp>
        <p:nvSpPr>
          <p:cNvPr id="4" name="Files – filbehandleren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Files – filbehandleren" descr="Files – filbehandler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IT-skrivebordet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IT-kort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får eget skrivebord med gul oppgavelinje, så ingen blander de 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IT-verktøy: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Sikkerhetssenter, terminal, nettverk, alle innstillinger, medisinsk USB-utstyr og IT-håndboken.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 pasientdata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 IT-modus, og administratorkommandoer bekreftes med PIN på IT-kortet.</a:t>
            </a:r>
            <a:endParaRPr lang="en-US" sz="1500" dirty="0"/>
          </a:p>
        </p:txBody>
      </p:sp>
      <p:sp>
        <p:nvSpPr>
          <p:cNvPr id="4" name="IT-skrivebordet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T-skrivebordet" descr="IT-skrivebord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Applikasjoner og funksjoner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Pasientjournal, Post, nettleser, sikkerhet og verktøy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Journalassistenten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Fra samtale til notat: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tas opp med pasientens samtykke, transkriberes og skrives på selve PC-en.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Kildesjekk: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hver setning merkes Sagt, Delvis eller Ikke funnet i samtalen.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Alltid et utkast: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helsepersonellet kontrollerer og godkjenner før noe lagres.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Ingenting forlater PC-en: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opptaket slettes så snart teksten er laget.</a:t>
            </a:r>
            <a:endParaRPr lang="en-US" sz="1500" dirty="0"/>
          </a:p>
        </p:txBody>
      </p:sp>
      <p:sp>
        <p:nvSpPr>
          <p:cNvPr id="4" name="Journalassistenten ramme"/>
          <p:cNvSpPr/>
          <p:nvPr/>
        </p:nvSpPr>
        <p:spPr>
          <a:xfrm>
            <a:off x="4526280" y="1371600"/>
            <a:ext cx="7132320" cy="453283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Journalassistenten" descr="Journalassistent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5328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Pasientjournal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Kritisk informasjon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øverst: allergier, tilstander, implantater.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Besøk og notater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fra alle virksomheter samlet.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E-resept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leger.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Hver åpning logges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og vises for pasienten.</a:t>
            </a:r>
            <a:endParaRPr lang="en-US" sz="1500" dirty="0"/>
          </a:p>
        </p:txBody>
      </p:sp>
      <p:sp>
        <p:nvSpPr>
          <p:cNvPr id="4" name="Pasientjournal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Pasientjournal" descr="Pasientjour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Medicus Post – svindelvarsel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Grønn: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verifisert helsepersonell i helsenettet.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Rød: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mistenkelig e-post med forklaring på vanlig norsk.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Lenker og vedlegg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fra utsiden er blokkert.</a:t>
            </a:r>
            <a:endParaRPr lang="en-US" sz="1500" dirty="0"/>
          </a:p>
        </p:txBody>
      </p:sp>
      <p:sp>
        <p:nvSpPr>
          <p:cNvPr id="4" name="Medicus Post – svindelvarsel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Medicus Post – svindelvarsel" descr="Medicus Post – svindelva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Bildedeling: røntgen og MR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DICOM-bilder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vises rett i meldingen.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Lysstyrke, kontrast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og inverter.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Virusskannet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før de slippes inn.</a:t>
            </a:r>
            <a:endParaRPr lang="en-US" sz="1500" dirty="0"/>
          </a:p>
        </p:txBody>
      </p:sp>
      <p:sp>
        <p:nvSpPr>
          <p:cNvPr id="4" name="Bildedeling: røntgen og MR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Bildedeling: røntgen og MR" descr="Bildedeling: røntgen og M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Medicus Nettleser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Egen nettleser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med eget ikon: en lyseblå jordklode med en rakett i bane.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Bare godkjente nettsteder: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helse, offentlige tjenester og norske nyheter.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 reklame eller sporing,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ingenting lagres, ingen andre merkevarer.</a:t>
            </a:r>
            <a:endParaRPr lang="en-US" sz="1500" dirty="0"/>
          </a:p>
        </p:txBody>
      </p:sp>
      <p:sp>
        <p:nvSpPr>
          <p:cNvPr id="4" name="Medicus Nettleser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Medicus Nettleser" descr="Medicus Nettle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Sikkerhetssenter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Sjekker live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at vernet virker.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Grønt: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 orden. Rødt: kontakt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Brannmur, USB, virus,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logg, oppdateringer, VPN.</a:t>
            </a:r>
            <a:endParaRPr lang="en-US" sz="1500" dirty="0"/>
          </a:p>
        </p:txBody>
      </p:sp>
      <p:sp>
        <p:nvSpPr>
          <p:cNvPr id="4" name="Sikkerhetssenter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Sikkerhetssenter" descr="Sikkerhetsse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Pasienten ser hvem som har sett journalen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Innbyggerportalen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(simulert Helsenorge).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Navn, rolle, sted og begrunnelse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hver åpning.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Nødtilgang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er tydelig merket.</a:t>
            </a:r>
            <a:endParaRPr lang="en-US" sz="1500" dirty="0"/>
          </a:p>
        </p:txBody>
      </p:sp>
      <p:sp>
        <p:nvSpPr>
          <p:cNvPr id="4" name="Pasienten ser hvem som har sett journalen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Pasienten ser hvem som har sett journalen" descr="Pasienten ser hvem som har sett journal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Forespørsler fra myndigheter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Bare med lovhjemmel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som gjelder for akkurat den myndigheten.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Politi, barnevern, NAV, tilsyn: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hver sine hjemler. Andre trenger samtykke.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Et menneske vurderer,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minst mulig utleveres, pasienten varsles.</a:t>
            </a:r>
            <a:endParaRPr lang="en-US" sz="1500" dirty="0"/>
          </a:p>
        </p:txBody>
      </p:sp>
      <p:sp>
        <p:nvSpPr>
          <p:cNvPr id="4" name="Forespørsler fra myndigheter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Forespørsler fra myndigheter" descr="Forespørsler fra myndigh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Medicus Kalkulator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Kalkulator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med desimalkomma.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Alle enheter: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µg–kg, µl–liter, teskje og spiseskje.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Vekt ↔ volum: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f.eks. liter → kg, med tetthet for blod, saltvann m.m.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Kliniske skårer: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BMI, eGFR (CKD-EPI 2021), CHA₂DS₂-VASc, NEWS2, GCS, CURB-65, QTc med flere.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Advarsel: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beslutningsstøtte, ikke en beslutning – og ikke for legemiddeldosering.</a:t>
            </a:r>
            <a:endParaRPr lang="en-US" sz="1500" dirty="0"/>
          </a:p>
        </p:txBody>
      </p:sp>
      <p:sp>
        <p:nvSpPr>
          <p:cNvPr id="4" name="Medicus Kalkulator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Medicus Kalkulator" descr="Medicus Kalk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Sikkerhet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Lag på lag – ingen enkeltfeil åpner alt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Vernet i lag</a:t>
            </a:r>
            <a:endParaRPr lang="en-US" sz="3200" dirty="0"/>
          </a:p>
        </p:txBody>
      </p:sp>
      <p:sp>
        <p:nvSpPr>
          <p:cNvPr id="3" name="Brannmur kort"/>
          <p:cNvSpPr/>
          <p:nvPr/>
        </p:nvSpPr>
        <p:spPr>
          <a:xfrm>
            <a:off x="548640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Brannmur ikonring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rannmur ikon" descr="Brannm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Brannmur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Ingen kan koble seg til utenfra. Apper når bare helsenettet.</a:t>
            </a:r>
            <a:endParaRPr lang="en-US" sz="1400" dirty="0"/>
          </a:p>
        </p:txBody>
      </p:sp>
      <p:sp>
        <p:nvSpPr>
          <p:cNvPr id="8" name="USB-lås kort"/>
          <p:cNvSpPr/>
          <p:nvPr/>
        </p:nvSpPr>
        <p:spPr>
          <a:xfrm>
            <a:off x="3390138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USB-lås ikonring"/>
          <p:cNvSpPr/>
          <p:nvPr/>
        </p:nvSpPr>
        <p:spPr>
          <a:xfrm>
            <a:off x="3664458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B-lås ikon" descr="USB-lå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USB-lås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Minnepinner blokkert. Bare tastatur, mus, hodesett og kortleser.</a:t>
            </a:r>
            <a:endParaRPr lang="en-US" sz="1400" dirty="0"/>
          </a:p>
        </p:txBody>
      </p:sp>
      <p:sp>
        <p:nvSpPr>
          <p:cNvPr id="13" name="Virusskanning kort"/>
          <p:cNvSpPr/>
          <p:nvPr/>
        </p:nvSpPr>
        <p:spPr>
          <a:xfrm>
            <a:off x="6231636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Virusskanning ikonring"/>
          <p:cNvSpPr/>
          <p:nvPr/>
        </p:nvSpPr>
        <p:spPr>
          <a:xfrm>
            <a:off x="6505956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Virusskanning ikon" descr="Virusska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645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Virusskanning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Alle vedlegg skannes før de slippes inn.</a:t>
            </a:r>
            <a:endParaRPr lang="en-US" sz="1400" dirty="0"/>
          </a:p>
        </p:txBody>
      </p:sp>
      <p:sp>
        <p:nvSpPr>
          <p:cNvPr id="18" name="VPN med kill switch kort"/>
          <p:cNvSpPr/>
          <p:nvPr/>
        </p:nvSpPr>
        <p:spPr>
          <a:xfrm>
            <a:off x="9073134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VPN med kill switch ikonring"/>
          <p:cNvSpPr/>
          <p:nvPr/>
        </p:nvSpPr>
        <p:spPr>
          <a:xfrm>
            <a:off x="9347454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VPN med kill switch ikon" descr="VPN med kill swit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6459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VPN med kill switch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trafikk kryptert til helsenettet, ingen annen vei ut.</a:t>
            </a:r>
            <a:endParaRPr lang="en-US" sz="1400" dirty="0"/>
          </a:p>
        </p:txBody>
      </p:sp>
      <p:sp>
        <p:nvSpPr>
          <p:cNvPr id="23" name="Ingen programkjøring kort"/>
          <p:cNvSpPr/>
          <p:nvPr/>
        </p:nvSpPr>
        <p:spPr>
          <a:xfrm>
            <a:off x="548640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24" name="Ingen programkjøring ikonrin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ngen programkjøring ikon" descr="Ingen programkjø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976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Ingen programkjøring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Ikke fra hjemmemappe, nedlastinger eller temp-mapper.</a:t>
            </a:r>
            <a:endParaRPr lang="en-US" sz="1400" dirty="0"/>
          </a:p>
        </p:txBody>
      </p:sp>
      <p:sp>
        <p:nvSpPr>
          <p:cNvPr id="28" name="Øktvakt kort"/>
          <p:cNvSpPr/>
          <p:nvPr/>
        </p:nvSpPr>
        <p:spPr>
          <a:xfrm>
            <a:off x="3390138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29" name="Øktvakt ikonring"/>
          <p:cNvSpPr/>
          <p:nvPr/>
        </p:nvSpPr>
        <p:spPr>
          <a:xfrm>
            <a:off x="3664458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Øktvakt ikon" descr="Øktvak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1618" y="42976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664458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Øktvakt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664458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Kortet ut – skjermen låses med en gang. Holdes 15 min for samme kort, så avsluttes og tømmes økten.</a:t>
            </a:r>
            <a:endParaRPr lang="en-US" sz="1400" dirty="0"/>
          </a:p>
        </p:txBody>
      </p:sp>
      <p:sp>
        <p:nvSpPr>
          <p:cNvPr id="33" name="Sikkerhetslogg kort"/>
          <p:cNvSpPr/>
          <p:nvPr/>
        </p:nvSpPr>
        <p:spPr>
          <a:xfrm>
            <a:off x="6231636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34" name="Sikkerhetslogg ikonring"/>
          <p:cNvSpPr/>
          <p:nvPr/>
        </p:nvSpPr>
        <p:spPr>
          <a:xfrm>
            <a:off x="6505956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Sikkerhetslogg ikon" descr="Sikkerhetslog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429768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505956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Sikkerhetslogg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6505956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Endringer i innlogging, brannmur og oppsett logges.</a:t>
            </a:r>
            <a:endParaRPr lang="en-US" sz="1400" dirty="0"/>
          </a:p>
        </p:txBody>
      </p:sp>
      <p:sp>
        <p:nvSpPr>
          <p:cNvPr id="38" name="Oppdateringer kort"/>
          <p:cNvSpPr/>
          <p:nvPr/>
        </p:nvSpPr>
        <p:spPr>
          <a:xfrm>
            <a:off x="9073134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39" name="Oppdateringer ikonring"/>
          <p:cNvSpPr/>
          <p:nvPr/>
        </p:nvSpPr>
        <p:spPr>
          <a:xfrm>
            <a:off x="9347454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Oppdateringer ikon" descr="Oppdatering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4614" y="429768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347454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Oppdateringer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9347454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Sikkerhetsoppdateringer installeres automatisk.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Avslutning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Logg ut, lås eller slå av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Av/på-menyen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Lås skjerm,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hvilemodus, start på nytt, slå av, logg ut.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 dvale: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den ville skrevet pasientdata til disk.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Ingen «bytt bruker»: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det er kortet som bestemmer.</a:t>
            </a:r>
            <a:endParaRPr lang="en-US" sz="1500" dirty="0"/>
          </a:p>
        </p:txBody>
      </p:sp>
      <p:sp>
        <p:nvSpPr>
          <p:cNvPr id="4" name="Av/på-menyen ram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Av/på-menyen" descr="Av/på-meny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Pilot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Prøv selv, og slik kan en første pilot gå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Prøv selv</a:t>
            </a:r>
            <a:endParaRPr lang="en-US" sz="3200" dirty="0"/>
          </a:p>
        </p:txBody>
      </p:sp>
      <p:sp>
        <p:nvSpPr>
          <p:cNvPr id="3" name="Åpne nettdemoen kort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Åpne nettdemoen ikonrin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Åpne nettdemoen ikon" descr="Åpne nettdemo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Åpne nettdemoen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https://federation-only-emerald-planets.trycloudflare.com/demo</a:t>
            </a:r>
            <a:endParaRPr lang="en-US" sz="1400" dirty="0"/>
          </a:p>
        </p:txBody>
      </p:sp>
      <p:sp>
        <p:nvSpPr>
          <p:cNvPr id="8" name="Velg et demokort kort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Velg et demokort ikonring"/>
          <p:cNvSpPr/>
          <p:nvPr/>
        </p:nvSpPr>
        <p:spPr>
          <a:xfrm>
            <a:off x="366445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Velg et demokort ikon" descr="Velg et demok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Velg et demokort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Lege, sykepleier, ambulansearbeider eller IT. Alle kort har PIN 1234. Tre feil PIN sperrer kortet.</a:t>
            </a:r>
            <a:endParaRPr lang="en-US" sz="1400" dirty="0"/>
          </a:p>
        </p:txBody>
      </p:sp>
      <p:sp>
        <p:nvSpPr>
          <p:cNvPr id="13" name="Prøv journalassistenten kort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Prøv journalassistenten ikonring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røv journalassistenten ikon" descr="Prøv journalassistent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Prøv journalassistenten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«Bruk eksempelsamtale», så «Lag journalnotat», og se kildesjekken.</a:t>
            </a:r>
            <a:endParaRPr lang="en-US" sz="1400" dirty="0"/>
          </a:p>
        </p:txBody>
      </p:sp>
      <p:sp>
        <p:nvSpPr>
          <p:cNvPr id="18" name="Norsk eller English kort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Norsk eller English ikonring"/>
          <p:cNvSpPr/>
          <p:nvPr/>
        </p:nvSpPr>
        <p:spPr>
          <a:xfrm>
            <a:off x="9347454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Norsk eller English ikon" descr="Norsk eller Engli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874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Norsk eller English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Knappen øverst til høyre bytter språk på alle sider.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Bare syntetiske data. Nettdemoen viser Medicus-appene; innloggingsskjermen, skjermlåsen og tømming av hjemmemappen finnes i selve Medicus OS. Lenken er midlertidig.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 første pilot, uten risiko</a:t>
            </a:r>
            <a:endParaRPr lang="en-US" sz="3200" dirty="0"/>
          </a:p>
        </p:txBody>
      </p:sp>
      <p:sp>
        <p:nvSpPr>
          <p:cNvPr id="3" name="Avtaler først kort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Avtaler først ikonrin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vtaler først ikon" descr="Avtaler før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Avtaler først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DPIA, risikovurdering etter Normen, MDR-vurdering og samtaler med tillitsvalgte.</a:t>
            </a:r>
            <a:endParaRPr lang="en-US" sz="1400" dirty="0"/>
          </a:p>
        </p:txBody>
      </p:sp>
      <p:sp>
        <p:nvSpPr>
          <p:cNvPr id="8" name="Ved siden av dagens PC-er kort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Ved siden av dagens PC-er ikonring"/>
          <p:cNvSpPr/>
          <p:nvPr/>
        </p:nvSpPr>
        <p:spPr>
          <a:xfrm>
            <a:off x="366445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Ved siden av dagens PC-er ikon" descr="Ved siden av dagens PC-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Ved siden av dagens PC-er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2–3 Medicus-PC-er på én enhet. De gamle PC-ene står, og enheten kan stoppe samme dag.</a:t>
            </a:r>
            <a:endParaRPr lang="en-US" sz="1400" dirty="0"/>
          </a:p>
        </p:txBody>
      </p:sp>
      <p:sp>
        <p:nvSpPr>
          <p:cNvPr id="13" name="Sjekk etter uke 4 kort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Sjekk etter uke 4 ikonring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jekk etter uke 4 ikon" descr="Sjekk etter uke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Sjekk etter uke 4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Enheten, IT og tillitsvalgte bestemmer: fortsett, endre eller stopp.</a:t>
            </a:r>
            <a:endParaRPr lang="en-US" sz="1400" dirty="0"/>
          </a:p>
        </p:txBody>
      </p:sp>
      <p:sp>
        <p:nvSpPr>
          <p:cNvPr id="18" name="Mål, så bestem kort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Mål, så bestem ikonring"/>
          <p:cNvSpPr/>
          <p:nvPr/>
        </p:nvSpPr>
        <p:spPr>
          <a:xfrm>
            <a:off x="9347454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Mål, så bestem ikon" descr="Mål, så best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874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Mål, så bestem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Spart tid, feil, supportsaker og hva de ansatte sier. Så bredere – eller stopp.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Veien videre</a:t>
            </a:r>
            <a:endParaRPr lang="en-US" sz="3200" dirty="0"/>
          </a:p>
        </p:txBody>
      </p:sp>
      <p:sp>
        <p:nvSpPr>
          <p:cNvPr id="3" name="Avtale med Norsk helsenett kort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Avtale med Norsk helsenett ikonrin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vtale med Norsk helsenett ikon" descr="Avtale med Norsk helsene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Avtale med Norsk helsenett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Medlemskap, HelseID og godkjenning – grensesnittet er klart.</a:t>
            </a:r>
            <a:endParaRPr lang="en-US" sz="1400" dirty="0"/>
          </a:p>
        </p:txBody>
      </p:sp>
      <p:sp>
        <p:nvSpPr>
          <p:cNvPr id="8" name="Ekte helsepersonellkort kort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Ekte helsepersonellkort ikonring"/>
          <p:cNvSpPr/>
          <p:nvPr/>
        </p:nvSpPr>
        <p:spPr>
          <a:xfrm>
            <a:off x="366445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Ekte helsepersonellkort ikon" descr="Ekte helsepersonellk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Ekte helsepersonellkort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Bytt simulert kortleser mot ekte (PKCS#11).</a:t>
            </a:r>
            <a:endParaRPr lang="en-US" sz="1400" dirty="0"/>
          </a:p>
        </p:txBody>
      </p:sp>
      <p:sp>
        <p:nvSpPr>
          <p:cNvPr id="13" name="Installasjon på disk kort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Installasjon på disk ikonring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nstallasjon på disk ikon" descr="Installasjon på d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Installasjon på disk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Egen installasjonsmodus for IT, med full diskkryptering.</a:t>
            </a:r>
            <a:endParaRPr lang="en-US" sz="1400" dirty="0"/>
          </a:p>
        </p:txBody>
      </p:sp>
      <p:sp>
        <p:nvSpPr>
          <p:cNvPr id="18" name="Sikkerhetsrevisjon kort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Sikkerhetsrevisjon ikonring"/>
          <p:cNvSpPr/>
          <p:nvPr/>
        </p:nvSpPr>
        <p:spPr>
          <a:xfrm>
            <a:off x="9347454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ikkerhetsrevisjon ikon" descr="Sikkerhetsrevisj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874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Sikkerhetsrevisjon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Ekstern penetrasjonstest, Normen, GDPR og MDR-vurdering.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us">
  <a:themeElements>
    <a:clrScheme name="Medicus">
      <a:dk1>
        <a:srgbClr val="17241C"/>
      </a:dk1>
      <a:lt1>
        <a:srgbClr val="FFFFFF"/>
      </a:lt1>
      <a:dk2>
        <a:srgbClr val="0F4F2F"/>
      </a:dk2>
      <a:lt2>
        <a:srgbClr val="EEF5F0"/>
      </a:lt2>
      <a:accent1>
        <a:srgbClr val="1A7F4B"/>
      </a:accent1>
      <a:accent2>
        <a:srgbClr val="7FE0AD"/>
      </a:accent2>
      <a:accent3>
        <a:srgbClr val="B3261E"/>
      </a:accent3>
      <a:accent4>
        <a:srgbClr val="C98A00"/>
      </a:accent4>
      <a:accent5>
        <a:srgbClr val="2FA36B"/>
      </a:accent5>
      <a:accent6>
        <a:srgbClr val="56655B"/>
      </a:accent6>
      <a:hlink>
        <a:srgbClr val="1A7F4B"/>
      </a:hlink>
      <a:folHlink>
        <a:srgbClr val="0F4F2F"/>
      </a:folHlink>
    </a:clrScheme>
    <a:fontScheme name="Medic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Medicus</dc:title>
  <dc:subject>Slik ser Medicus ut og fungerer</dc:subject>
  <dc:creator>Medicus</dc:creator>
  <cp:lastModifiedBy>Medicus</cp:lastModifiedBy>
  <cp:revision>1</cp:revision>
  <dcterms:created xsi:type="dcterms:W3CDTF">2026-10-24T03:41:00Z</dcterms:created>
  <dcterms:modified xsi:type="dcterms:W3CDTF">2026-10-24T03:41:00Z</dcterms:modified>
</cp:coreProperties>
</file>