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91655dba-37b6-4274-d04b-b2f848ea4711}">
          <p14:sldIdLst>
            <p14:sldId id="256"/>
            <p14:sldId id="257"/>
          </p14:sldIdLst>
        </p14:section>
        <p14:section name="Start-up" id="{87c6e6fc-85aa-2211-5d8f-c57bc3117d53}">
          <p14:sldIdLst>
            <p14:sldId id="258"/>
            <p14:sldId id="259"/>
            <p14:sldId id="260"/>
          </p14:sldIdLst>
        </p14:section>
        <p14:section name="Login" id="{8d073168-5132-2cdb-7947-318279dd42db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Desktop" id="{57ead567-ac76-04db-5dee-22385fae30cf}">
          <p14:sldIdLst>
            <p14:sldId id="267"/>
            <p14:sldId id="268"/>
            <p14:sldId id="269"/>
            <p14:sldId id="270"/>
            <p14:sldId id="271"/>
          </p14:sldIdLst>
        </p14:section>
        <p14:section name="Apps" id="{91eca9e2-7d6a-5a72-0317-918ec4d63276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Security" id="{e775a4ba-213d-3b55-1ef8-daa4d28093f4}">
          <p14:sldIdLst>
            <p14:sldId id="282"/>
            <p14:sldId id="283"/>
          </p14:sldIdLst>
        </p14:section>
        <p14:section name="Shutdown" id="{94ecca59-9367-7efb-38c3-cfa244e95bc5}">
          <p14:sldIdLst>
            <p14:sldId id="284"/>
            <p14:sldId id="285"/>
          </p14:sldIdLst>
        </p14:section>
        <p14:section name="Pilot" id="{c1e949b0-e0d1-1151-9c7b-224a1c40b8da}">
          <p14:sldIdLst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Medicus is a Linux-based operating system for Norwegian healthcare. Every picture in this presentation is a screenshot of the system as it runs, with synthetic test patients and simulated health-worker ID cards. The system is in Norwegian, with English as a choice on the login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link: https://federation-only-emerald-planets.trycloudflare.com/demo – PIN 1234 for every demo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tel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tel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3931920"/>
            <a:ext cx="106984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98348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tel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1031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000" b="1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1089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kjerm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Medicus · prototype with synthetic data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re tittel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Medicus · prototype with synthetic data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edicus logo" descr="Medicu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03120"/>
            <a:ext cx="1554480" cy="15544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393192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Medicus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498348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A secure workstation for healthcare staff – from start-up to shutdown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is Medicus</a:t>
            </a:r>
            <a:endParaRPr lang="en-US" sz="3200" dirty="0"/>
          </a:p>
        </p:txBody>
      </p:sp>
      <p:sp>
        <p:nvSpPr>
          <p:cNvPr id="3" name="Card login card"/>
          <p:cNvSpPr/>
          <p:nvPr/>
        </p:nvSpPr>
        <p:spPr>
          <a:xfrm>
            <a:off x="548640" y="146304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4" name="Card login icon ring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Card login icon" descr="Card log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146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Card login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201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Health-worker ID card and PIN. No passwords. Emergency access when lives are at stake.</a:t>
            </a:r>
            <a:endParaRPr lang="en-US" sz="1400" dirty="0"/>
          </a:p>
        </p:txBody>
      </p:sp>
      <p:sp>
        <p:nvSpPr>
          <p:cNvPr id="8" name="Ready for the health network card"/>
          <p:cNvSpPr/>
          <p:nvPr/>
        </p:nvSpPr>
        <p:spPr>
          <a:xfrm>
            <a:off x="3390138" y="146304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9" name="Ready for the health network icon ring"/>
          <p:cNvSpPr/>
          <p:nvPr/>
        </p:nvSpPr>
        <p:spPr>
          <a:xfrm>
            <a:off x="3664458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Ready for the health network icon" descr="Ready for the health networ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1618" y="187452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4458" y="25146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Ready for the health network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664458" y="3154680"/>
            <a:ext cx="201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interface to Helsenorge, the Summary Care Record and e-prescriptions – today against a simulator.</a:t>
            </a:r>
            <a:endParaRPr lang="en-US" sz="1400" dirty="0"/>
          </a:p>
        </p:txBody>
      </p:sp>
      <p:sp>
        <p:nvSpPr>
          <p:cNvPr id="13" name="Hardened security card"/>
          <p:cNvSpPr/>
          <p:nvPr/>
        </p:nvSpPr>
        <p:spPr>
          <a:xfrm>
            <a:off x="6231636" y="146304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14" name="Hardened security icon ring"/>
          <p:cNvSpPr/>
          <p:nvPr/>
        </p:nvSpPr>
        <p:spPr>
          <a:xfrm>
            <a:off x="6505956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Hardened security icon" descr="Hardened securit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3116" y="187452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5956" y="25146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Hardened security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505956" y="3154680"/>
            <a:ext cx="201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Firewall, USB lock, virus scanning, VPN, and no running programs from the home folder.</a:t>
            </a:r>
            <a:endParaRPr lang="en-US" sz="1400" dirty="0"/>
          </a:p>
        </p:txBody>
      </p:sp>
      <p:sp>
        <p:nvSpPr>
          <p:cNvPr id="18" name="Follows the workplace card"/>
          <p:cNvSpPr/>
          <p:nvPr/>
        </p:nvSpPr>
        <p:spPr>
          <a:xfrm>
            <a:off x="9073134" y="146304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19" name="Follows the workplace icon ring"/>
          <p:cNvSpPr/>
          <p:nvPr/>
        </p:nvSpPr>
        <p:spPr>
          <a:xfrm>
            <a:off x="9347454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ollows the workplace icon" descr="Follows the workpl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4614" y="187452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7454" y="25146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Follows the workplace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9347454" y="3154680"/>
            <a:ext cx="201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PC knows which hospital it is in. Your position comes with it.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Linux-based, only for machines owned by health trusts, municipalities and the public sector. Its own design, nothing copied from Windows.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1031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1089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Start-up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From pressing the power button to the login screen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boot menu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Starts by itself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after 5 seconds.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Safe mode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for troubleshooting.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Locked: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nobody can change the start-up command. That closes a common way around the login.</a:t>
            </a:r>
            <a:endParaRPr lang="en-US" sz="1500" dirty="0"/>
          </a:p>
        </p:txBody>
      </p:sp>
      <p:sp>
        <p:nvSpPr>
          <p:cNvPr id="4" name="The boot menu frame"/>
          <p:cNvSpPr/>
          <p:nvPr/>
        </p:nvSpPr>
        <p:spPr>
          <a:xfrm>
            <a:off x="4526280" y="1371600"/>
            <a:ext cx="7132320" cy="534924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The boot menu" descr="The boot men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53492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heartbeat shows something is happening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One loading animation: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an ECG line with a pulse.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The same everywhere: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at start-up, at login and in the apps.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No text: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the pulse alone says the machine is working.</a:t>
            </a:r>
            <a:endParaRPr lang="en-US" sz="1500" dirty="0"/>
          </a:p>
        </p:txBody>
      </p:sp>
      <p:sp>
        <p:nvSpPr>
          <p:cNvPr id="4" name="The heartbeat shows something is happening fra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The heartbeat shows something is happening" descr="The heartbeat shows something is happe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1031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1089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Login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Health-worker ID card and PIN – or emergency access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login screen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Insert the card,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type the PIN.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Three wrong PINs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block the card – the screen clearly says IT must unlock 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The workplace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under the logo is the PC's fixed location.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The demo panel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at the bottom simulates the card reader and the workplace.</a:t>
            </a:r>
            <a:endParaRPr lang="en-US" sz="1500" dirty="0"/>
          </a:p>
        </p:txBody>
      </p:sp>
      <p:sp>
        <p:nvSpPr>
          <p:cNvPr id="4" name="The login screen fra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The login screen" descr="The login scre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card is inserted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Name, position and workplace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are shown at once.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One button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to insert and remove the card.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Remove the card: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the screen locks at once. Back within 15 minutes with the same card and PIN, and nothing is lost.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Someone else logs in,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or 15 minutes pass: the session ends and the home folder is wiped.</a:t>
            </a:r>
            <a:endParaRPr lang="en-US" sz="1500" dirty="0"/>
          </a:p>
        </p:txBody>
      </p:sp>
      <p:sp>
        <p:nvSpPr>
          <p:cNvPr id="4" name="The card is inserted fra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The card is inserted" descr="The card is insert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Norwegian or English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One button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on the login screen: Norsk or English.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The whole session follows: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menus, the Start menu, the browser and the Medicus apps.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Northern Sámi keyboard: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Alt+Shift switches between the Norwegian and the Sámi layout.</a:t>
            </a:r>
            <a:endParaRPr lang="en-US" sz="1500" dirty="0"/>
          </a:p>
        </p:txBody>
      </p:sp>
      <p:sp>
        <p:nvSpPr>
          <p:cNvPr id="4" name="Norwegian or English fra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Norwegian or English" descr="Norwegian or Engl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workplace follows the PC</a:t>
            </a:r>
            <a:endParaRPr lang="en-US" sz="3200" dirty="0"/>
          </a:p>
        </p:txBody>
      </p:sp>
      <p:sp>
        <p:nvSpPr>
          <p:cNvPr id="3" name="The same doctor at Ullevål frame"/>
          <p:cNvSpPr/>
          <p:nvPr/>
        </p:nvSpPr>
        <p:spPr>
          <a:xfrm>
            <a:off x="548640" y="1371600"/>
            <a:ext cx="5394960" cy="3203258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4" name="The same doctor at Ullevål" descr="The same doctor at Ullevå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394960" cy="3203258"/>
          </a:xfrm>
          <a:prstGeom prst="rect">
            <a:avLst/>
          </a:prstGeom>
        </p:spPr>
      </p:pic>
      <p:sp>
        <p:nvSpPr>
          <p:cNvPr id="5" name="The same doctor at St. Olavs frame"/>
          <p:cNvSpPr/>
          <p:nvPr/>
        </p:nvSpPr>
        <p:spPr>
          <a:xfrm>
            <a:off x="6245352" y="1371600"/>
            <a:ext cx="5394960" cy="3203258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6" name="The same doctor at St. Olavs" descr="The same doctor at St. Olav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371600"/>
            <a:ext cx="5394960" cy="320325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48920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Ullevål: Senior consultant, cardiology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245352" y="48920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St. Olavs: Visiting consultant, cardiology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card says who you are. The PC says where you are. Your position is taken from that workplace.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Emergency access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Card + reason,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no PIN – to save time.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Only critical information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for 30 minutes.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Logged by name,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reviewed afterwards, and the patient is notified.</a:t>
            </a:r>
            <a:endParaRPr lang="en-US" sz="1500" dirty="0"/>
          </a:p>
        </p:txBody>
      </p:sp>
      <p:sp>
        <p:nvSpPr>
          <p:cNvPr id="4" name="Emergency access fra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Emergency access" descr="Emergency acce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1031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1089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The desktop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Start menu, shortcuts and standard programs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desktop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Own wallpapers: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Northern Lights, Fjord, Forest and Mountains.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Shortcuts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to the Medicus apps, Home and Trash.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The taskbar: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Start button, shortcuts to the browser and Files, open windows, network, sound, clock and name.</a:t>
            </a:r>
            <a:endParaRPr lang="en-US" sz="1500" dirty="0"/>
          </a:p>
        </p:txBody>
      </p:sp>
      <p:sp>
        <p:nvSpPr>
          <p:cNvPr id="4" name="The desktop fra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The desktop" descr="The desk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Start menu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Favourites: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all the Medicus apps first.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Profile picture: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a neutral health-worker figure.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No terminal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and no "run command".</a:t>
            </a:r>
            <a:endParaRPr lang="en-US" sz="1500" dirty="0"/>
          </a:p>
        </p:txBody>
      </p:sp>
      <p:sp>
        <p:nvSpPr>
          <p:cNvPr id="4" name="The Start menu fra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The Start menu" descr="The Start men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Files – the file manager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A tidy sidebar: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Home, Desktop, Documents, Pictures, Downloads and Trash.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Large icons,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folders first, no menu bar.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One click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from the shortcut on the taskbar.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Plain names: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Files, Pictures, Text and Mouse. Text is Medicus' own text editor.</a:t>
            </a:r>
            <a:endParaRPr lang="en-US" sz="1500" dirty="0"/>
          </a:p>
        </p:txBody>
      </p:sp>
      <p:sp>
        <p:nvSpPr>
          <p:cNvPr id="4" name="Files – the file manager fra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Files – the file manager" descr="Files – the file manag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IT desktop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IT cards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get their own desktop with an amber taskbar, so nobody mixes up the two.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IT tools: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Security Center, terminal, network, all settings, medical USB devices and the IT handbook.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No patient data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in IT mode, and admin commands are confirmed with the IT card PIN.</a:t>
            </a:r>
            <a:endParaRPr lang="en-US" sz="1500" dirty="0"/>
          </a:p>
        </p:txBody>
      </p:sp>
      <p:sp>
        <p:nvSpPr>
          <p:cNvPr id="4" name="The IT desktop fra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The IT desktop" descr="The IT desk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1031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1089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Apps and features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Patient record, Post, browser, security and tools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journal assistant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From conversation to note: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recorded with the patient's consent, transcribed and drafted on the PC itself.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Source check: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every sentence is marked Said, Partly or Not found in the conversation.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Always a draft: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the clinician checks and approves before anything is saved.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Nothing leaves the PC: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the recording is deleted as soon as the text is made.</a:t>
            </a:r>
            <a:endParaRPr lang="en-US" sz="1500" dirty="0"/>
          </a:p>
        </p:txBody>
      </p:sp>
      <p:sp>
        <p:nvSpPr>
          <p:cNvPr id="4" name="The journal assistant frame"/>
          <p:cNvSpPr/>
          <p:nvPr/>
        </p:nvSpPr>
        <p:spPr>
          <a:xfrm>
            <a:off x="4526280" y="1371600"/>
            <a:ext cx="7132320" cy="453283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The journal assistant" descr="The journal assist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53283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Patient record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Critical information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at the top: allergies, conditions, implants.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Visits and notes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from every provider in one place.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E-prescriptions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for doctors.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Every opening is logged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and shown to the patient.</a:t>
            </a:r>
            <a:endParaRPr lang="en-US" sz="1500" dirty="0"/>
          </a:p>
        </p:txBody>
      </p:sp>
      <p:sp>
        <p:nvSpPr>
          <p:cNvPr id="4" name="Patient record fra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Patient record" descr="Patient reco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Medicus Post – phishing warning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Green: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verified health worker in the health network.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Red: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suspicious e-mail, with an explanation in plain language.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Links and attachments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from outside are blocked.</a:t>
            </a:r>
            <a:endParaRPr lang="en-US" sz="1500" dirty="0"/>
          </a:p>
        </p:txBody>
      </p:sp>
      <p:sp>
        <p:nvSpPr>
          <p:cNvPr id="4" name="Medicus Post – phishing warning fra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Medicus Post – phishing warning" descr="Medicus Post – phishing war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Image sharing: X-ray and MRI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DICOM images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are shown right in the message.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Brightness, contrast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and invert.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Virus-scanned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before they are let in.</a:t>
            </a:r>
            <a:endParaRPr lang="en-US" sz="1500" dirty="0"/>
          </a:p>
        </p:txBody>
      </p:sp>
      <p:sp>
        <p:nvSpPr>
          <p:cNvPr id="4" name="Image sharing: X-ray and MRI fra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Image sharing: X-ray and MRI" descr="Image sharing: X-ray and MR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Medicus Nettleser (the browser)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Its own browser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with its own icon: a light-blue Earth with a rocket in orbit.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Approved websites only: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health, public services and Norwegian news.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No ads or tracking,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nothing is stored, no other brands.</a:t>
            </a:r>
            <a:endParaRPr lang="en-US" sz="1500" dirty="0"/>
          </a:p>
        </p:txBody>
      </p:sp>
      <p:sp>
        <p:nvSpPr>
          <p:cNvPr id="4" name="Medicus Nettleser (the browser) fra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Medicus Nettleser (the browser)" descr="Medicus Nettleser (the browser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Security Center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Checks live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that the protection works.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Green: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all is well. Red: contact 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Firewall, USB, virus,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security log, updates, VPN.</a:t>
            </a:r>
            <a:endParaRPr lang="en-US" sz="1500" dirty="0"/>
          </a:p>
        </p:txBody>
      </p:sp>
      <p:sp>
        <p:nvSpPr>
          <p:cNvPr id="4" name="Security Center fra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Security Center" descr="Security Cen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Patients see who has opened their record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The citizen portal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(simulated Helsenorge).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Name, role, place and reason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for every opening.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Emergency access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is clearly marked.</a:t>
            </a:r>
            <a:endParaRPr lang="en-US" sz="1500" dirty="0"/>
          </a:p>
        </p:txBody>
      </p:sp>
      <p:sp>
        <p:nvSpPr>
          <p:cNvPr id="4" name="Patients see who has opened their record fra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Patients see who has opened their record" descr="Patients see who has opened their reco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Requests from authorities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Only with a legal basis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that applies to that exact authority.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Police, child welfare, NAV, supervisory bodies: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each has its own legal bases. Others need consent.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A person decides,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as little as possible is disclosed, and the patient is notified.</a:t>
            </a:r>
            <a:endParaRPr lang="en-US" sz="1500" dirty="0"/>
          </a:p>
        </p:txBody>
      </p:sp>
      <p:sp>
        <p:nvSpPr>
          <p:cNvPr id="4" name="Requests from authorities fra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Requests from authorities" descr="Requests from authoriti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Medicus Calculator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Calculator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with decimal comma.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All units: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µg–kg, µl–litre, teaspoon and tablespoon.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Weight ↔ volume: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e.g. litres → kg, with densities for blood, saline and more.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Clinical scores: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BMI, eGFR (CKD-EPI 2021), CHA₂DS₂-VASc, NEWS2, GCS, CURB-65, QTc and more.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Warning: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decision support, not a decision – and not for medicine dosing.</a:t>
            </a:r>
            <a:endParaRPr lang="en-US" sz="1500" dirty="0"/>
          </a:p>
        </p:txBody>
      </p:sp>
      <p:sp>
        <p:nvSpPr>
          <p:cNvPr id="4" name="Medicus Calculator fra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Medicus Calculator" descr="Medicus Calcula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1031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1089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Security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Layer upon layer – no single fault opens everything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Protection in layers</a:t>
            </a:r>
            <a:endParaRPr lang="en-US" sz="3200" dirty="0"/>
          </a:p>
        </p:txBody>
      </p:sp>
      <p:sp>
        <p:nvSpPr>
          <p:cNvPr id="3" name="Firewall card"/>
          <p:cNvSpPr/>
          <p:nvPr/>
        </p:nvSpPr>
        <p:spPr>
          <a:xfrm>
            <a:off x="548640" y="1234440"/>
            <a:ext cx="256717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4" name="Firewall icon ring"/>
          <p:cNvSpPr/>
          <p:nvPr/>
        </p:nvSpPr>
        <p:spPr>
          <a:xfrm>
            <a:off x="822960" y="15087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irewall icon" descr="Firew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6459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2860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Firewall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26080"/>
            <a:ext cx="201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Nobody can connect from outside. Apps reach only the health network.</a:t>
            </a:r>
            <a:endParaRPr lang="en-US" sz="1400" dirty="0"/>
          </a:p>
        </p:txBody>
      </p:sp>
      <p:sp>
        <p:nvSpPr>
          <p:cNvPr id="8" name="USB lock card"/>
          <p:cNvSpPr/>
          <p:nvPr/>
        </p:nvSpPr>
        <p:spPr>
          <a:xfrm>
            <a:off x="3390138" y="1234440"/>
            <a:ext cx="256717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9" name="USB lock icon ring"/>
          <p:cNvSpPr/>
          <p:nvPr/>
        </p:nvSpPr>
        <p:spPr>
          <a:xfrm>
            <a:off x="3664458" y="15087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USB lock icon" descr="USB 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1618" y="164592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4458" y="22860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USB lock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664458" y="2926080"/>
            <a:ext cx="201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Memory sticks blocked. Only keyboard, mouse, headset and card reader.</a:t>
            </a:r>
            <a:endParaRPr lang="en-US" sz="1400" dirty="0"/>
          </a:p>
        </p:txBody>
      </p:sp>
      <p:sp>
        <p:nvSpPr>
          <p:cNvPr id="13" name="Virus scanning card"/>
          <p:cNvSpPr/>
          <p:nvPr/>
        </p:nvSpPr>
        <p:spPr>
          <a:xfrm>
            <a:off x="6231636" y="1234440"/>
            <a:ext cx="256717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14" name="Virus scanning icon ring"/>
          <p:cNvSpPr/>
          <p:nvPr/>
        </p:nvSpPr>
        <p:spPr>
          <a:xfrm>
            <a:off x="6505956" y="15087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Virus scanning icon" descr="Virus scan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3116" y="164592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5956" y="22860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Virus scanning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505956" y="2926080"/>
            <a:ext cx="201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attachment is scanned before it is let in.</a:t>
            </a:r>
            <a:endParaRPr lang="en-US" sz="1400" dirty="0"/>
          </a:p>
        </p:txBody>
      </p:sp>
      <p:sp>
        <p:nvSpPr>
          <p:cNvPr id="18" name="VPN with kill switch card"/>
          <p:cNvSpPr/>
          <p:nvPr/>
        </p:nvSpPr>
        <p:spPr>
          <a:xfrm>
            <a:off x="9073134" y="1234440"/>
            <a:ext cx="256717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19" name="VPN with kill switch icon ring"/>
          <p:cNvSpPr/>
          <p:nvPr/>
        </p:nvSpPr>
        <p:spPr>
          <a:xfrm>
            <a:off x="9347454" y="15087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VPN with kill switch icon" descr="VPN with kill swit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4614" y="164592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7454" y="22860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VPN with kill switch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9347454" y="2926080"/>
            <a:ext cx="201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 traffic encrypted to the health network, no other way out.</a:t>
            </a:r>
            <a:endParaRPr lang="en-US" sz="1400" dirty="0"/>
          </a:p>
        </p:txBody>
      </p:sp>
      <p:sp>
        <p:nvSpPr>
          <p:cNvPr id="23" name="No running programs card"/>
          <p:cNvSpPr/>
          <p:nvPr/>
        </p:nvSpPr>
        <p:spPr>
          <a:xfrm>
            <a:off x="548640" y="3886200"/>
            <a:ext cx="256717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24" name="No running programs icon ring"/>
          <p:cNvSpPr/>
          <p:nvPr/>
        </p:nvSpPr>
        <p:spPr>
          <a:xfrm>
            <a:off x="822960" y="41605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No running programs icon" descr="No running program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297680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22960" y="493776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No running programs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5577840"/>
            <a:ext cx="201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Not from the home folder, downloads or temp folders.</a:t>
            </a:r>
            <a:endParaRPr lang="en-US" sz="1400" dirty="0"/>
          </a:p>
        </p:txBody>
      </p:sp>
      <p:sp>
        <p:nvSpPr>
          <p:cNvPr id="28" name="Session guard card"/>
          <p:cNvSpPr/>
          <p:nvPr/>
        </p:nvSpPr>
        <p:spPr>
          <a:xfrm>
            <a:off x="3390138" y="3886200"/>
            <a:ext cx="256717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29" name="Session guard icon ring"/>
          <p:cNvSpPr/>
          <p:nvPr/>
        </p:nvSpPr>
        <p:spPr>
          <a:xfrm>
            <a:off x="3664458" y="41605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Session guard icon" descr="Session guar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1618" y="4297680"/>
            <a:ext cx="365760" cy="36576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664458" y="493776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Session guard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3664458" y="5577840"/>
            <a:ext cx="201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Card out – the screen locks at once. Held 15 min for the same card, then ended and wiped.</a:t>
            </a:r>
            <a:endParaRPr lang="en-US" sz="1400" dirty="0"/>
          </a:p>
        </p:txBody>
      </p:sp>
      <p:sp>
        <p:nvSpPr>
          <p:cNvPr id="33" name="Security log card"/>
          <p:cNvSpPr/>
          <p:nvPr/>
        </p:nvSpPr>
        <p:spPr>
          <a:xfrm>
            <a:off x="6231636" y="3886200"/>
            <a:ext cx="256717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34" name="Security log icon ring"/>
          <p:cNvSpPr/>
          <p:nvPr/>
        </p:nvSpPr>
        <p:spPr>
          <a:xfrm>
            <a:off x="6505956" y="41605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5" name="Security log icon" descr="Security lo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4297680"/>
            <a:ext cx="365760" cy="36576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6505956" y="493776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Security log</a:t>
            </a:r>
            <a:endParaRPr lang="en-US" sz="1700" dirty="0"/>
          </a:p>
        </p:txBody>
      </p:sp>
      <p:sp>
        <p:nvSpPr>
          <p:cNvPr id="37" name="Text 28"/>
          <p:cNvSpPr txBox="1"/>
          <p:nvPr/>
        </p:nvSpPr>
        <p:spPr>
          <a:xfrm>
            <a:off x="6505956" y="5577840"/>
            <a:ext cx="201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Changes to logins, the firewall and settings are logged.</a:t>
            </a:r>
            <a:endParaRPr lang="en-US" sz="1400" dirty="0"/>
          </a:p>
        </p:txBody>
      </p:sp>
      <p:sp>
        <p:nvSpPr>
          <p:cNvPr id="38" name="Updates card"/>
          <p:cNvSpPr/>
          <p:nvPr/>
        </p:nvSpPr>
        <p:spPr>
          <a:xfrm>
            <a:off x="9073134" y="3886200"/>
            <a:ext cx="256717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39" name="Updates icon ring"/>
          <p:cNvSpPr/>
          <p:nvPr/>
        </p:nvSpPr>
        <p:spPr>
          <a:xfrm>
            <a:off x="9347454" y="41605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0" name="Updates icon" descr="Update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84614" y="4297680"/>
            <a:ext cx="365760" cy="36576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9347454" y="493776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Updates</a:t>
            </a:r>
            <a:endParaRPr lang="en-US" sz="1700" dirty="0"/>
          </a:p>
        </p:txBody>
      </p:sp>
      <p:sp>
        <p:nvSpPr>
          <p:cNvPr id="42" name="Text 32"/>
          <p:cNvSpPr txBox="1"/>
          <p:nvPr/>
        </p:nvSpPr>
        <p:spPr>
          <a:xfrm>
            <a:off x="9347454" y="5577840"/>
            <a:ext cx="201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Security updates are installed automatically.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1031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06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1089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Shutdown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Log out, lock or shut down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power menu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3657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Lock screen,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sleep, restart, shut down, log out.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No hibernate: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it would write patient data to disk.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No "switch user":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the card decides who is logged in.</a:t>
            </a:r>
            <a:endParaRPr lang="en-US" sz="1500" dirty="0"/>
          </a:p>
        </p:txBody>
      </p:sp>
      <p:sp>
        <p:nvSpPr>
          <p:cNvPr id="4" name="The power menu frame"/>
          <p:cNvSpPr/>
          <p:nvPr/>
        </p:nvSpPr>
        <p:spPr>
          <a:xfrm>
            <a:off x="4526280" y="1371600"/>
            <a:ext cx="7132320" cy="4457700"/>
          </a:xfrm>
          <a:prstGeom prst="rect">
            <a:avLst/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5" name="The power menu" descr="The power men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4577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21031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07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1089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Pilot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Try it yourself, and how a first pilot would run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Try it yourself</a:t>
            </a:r>
            <a:endParaRPr lang="en-US" sz="3200" dirty="0"/>
          </a:p>
        </p:txBody>
      </p:sp>
      <p:sp>
        <p:nvSpPr>
          <p:cNvPr id="3" name="Open the web demo card"/>
          <p:cNvSpPr/>
          <p:nvPr/>
        </p:nvSpPr>
        <p:spPr>
          <a:xfrm>
            <a:off x="548640" y="146304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4" name="Open the web demo icon ring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Open the web demo icon" descr="Open the web dem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146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Open the web demo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201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https://federation-only-emerald-planets.trycloudflare.com/demo</a:t>
            </a:r>
            <a:endParaRPr lang="en-US" sz="1400" dirty="0"/>
          </a:p>
        </p:txBody>
      </p:sp>
      <p:sp>
        <p:nvSpPr>
          <p:cNvPr id="8" name="Pick a demo card card"/>
          <p:cNvSpPr/>
          <p:nvPr/>
        </p:nvSpPr>
        <p:spPr>
          <a:xfrm>
            <a:off x="3390138" y="146304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9" name="Pick a demo card icon ring"/>
          <p:cNvSpPr/>
          <p:nvPr/>
        </p:nvSpPr>
        <p:spPr>
          <a:xfrm>
            <a:off x="3664458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Pick a demo card icon" descr="Pick a demo c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1618" y="187452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4458" y="25146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Pick a demo card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664458" y="3154680"/>
            <a:ext cx="201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Doctor, nurse, paramedic or IT. Every card has PIN 1234. Three wrong PINs block it.</a:t>
            </a:r>
            <a:endParaRPr lang="en-US" sz="1400" dirty="0"/>
          </a:p>
        </p:txBody>
      </p:sp>
      <p:sp>
        <p:nvSpPr>
          <p:cNvPr id="13" name="Try the journal assistant card"/>
          <p:cNvSpPr/>
          <p:nvPr/>
        </p:nvSpPr>
        <p:spPr>
          <a:xfrm>
            <a:off x="6231636" y="146304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14" name="Try the journal assistant icon ring"/>
          <p:cNvSpPr/>
          <p:nvPr/>
        </p:nvSpPr>
        <p:spPr>
          <a:xfrm>
            <a:off x="6505956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Try the journal assistant icon" descr="Try the journal assistan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3116" y="187452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5956" y="25146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Try the journal assistant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505956" y="3154680"/>
            <a:ext cx="201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"Use example conversation", then "Create journal note", and look at the source check.</a:t>
            </a:r>
            <a:endParaRPr lang="en-US" sz="1400" dirty="0"/>
          </a:p>
        </p:txBody>
      </p:sp>
      <p:sp>
        <p:nvSpPr>
          <p:cNvPr id="18" name="Norsk or English card"/>
          <p:cNvSpPr/>
          <p:nvPr/>
        </p:nvSpPr>
        <p:spPr>
          <a:xfrm>
            <a:off x="9073134" y="146304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19" name="Norsk or English icon ring"/>
          <p:cNvSpPr/>
          <p:nvPr/>
        </p:nvSpPr>
        <p:spPr>
          <a:xfrm>
            <a:off x="9347454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Norsk or English icon" descr="Norsk or Englis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4614" y="187452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7454" y="25146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Norsk or English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9347454" y="3154680"/>
            <a:ext cx="201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button at the top right switches the language on every page.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Synthetic data only. The web demo shows the Medicus apps; the login screen, screen lock and home-folder wipe are in Medicus OS itself. The link is temporary.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 first pilot, without risk</a:t>
            </a:r>
            <a:endParaRPr lang="en-US" sz="3200" dirty="0"/>
          </a:p>
        </p:txBody>
      </p:sp>
      <p:sp>
        <p:nvSpPr>
          <p:cNvPr id="3" name="Agreements first card"/>
          <p:cNvSpPr/>
          <p:nvPr/>
        </p:nvSpPr>
        <p:spPr>
          <a:xfrm>
            <a:off x="548640" y="146304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4" name="Agreements first icon ring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Agreements first icon" descr="Agreements fir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146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Agreements first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201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DPIA, Normen risk assessment, MDR assessment and talks with employee representatives.</a:t>
            </a:r>
            <a:endParaRPr lang="en-US" sz="1400" dirty="0"/>
          </a:p>
        </p:txBody>
      </p:sp>
      <p:sp>
        <p:nvSpPr>
          <p:cNvPr id="8" name="Next to today's PCs card"/>
          <p:cNvSpPr/>
          <p:nvPr/>
        </p:nvSpPr>
        <p:spPr>
          <a:xfrm>
            <a:off x="3390138" y="146304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9" name="Next to today's PCs icon ring"/>
          <p:cNvSpPr/>
          <p:nvPr/>
        </p:nvSpPr>
        <p:spPr>
          <a:xfrm>
            <a:off x="3664458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Next to today's PCs icon" descr="Next to today's PC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1618" y="187452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4458" y="25146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Next to today's PCs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664458" y="3154680"/>
            <a:ext cx="201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2–3 Medicus PCs on one unit. The old PCs stay, and the unit can stop the same day.</a:t>
            </a:r>
            <a:endParaRPr lang="en-US" sz="1400" dirty="0"/>
          </a:p>
        </p:txBody>
      </p:sp>
      <p:sp>
        <p:nvSpPr>
          <p:cNvPr id="13" name="Check at week 4 card"/>
          <p:cNvSpPr/>
          <p:nvPr/>
        </p:nvSpPr>
        <p:spPr>
          <a:xfrm>
            <a:off x="6231636" y="146304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14" name="Check at week 4 icon ring"/>
          <p:cNvSpPr/>
          <p:nvPr/>
        </p:nvSpPr>
        <p:spPr>
          <a:xfrm>
            <a:off x="6505956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Check at week 4 icon" descr="Check at week 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3116" y="187452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5956" y="25146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Check at week 4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505956" y="3154680"/>
            <a:ext cx="201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unit, IT and employee representatives decide: go on, change or stop.</a:t>
            </a:r>
            <a:endParaRPr lang="en-US" sz="1400" dirty="0"/>
          </a:p>
        </p:txBody>
      </p:sp>
      <p:sp>
        <p:nvSpPr>
          <p:cNvPr id="18" name="Measure, then decide card"/>
          <p:cNvSpPr/>
          <p:nvPr/>
        </p:nvSpPr>
        <p:spPr>
          <a:xfrm>
            <a:off x="9073134" y="146304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19" name="Measure, then decide icon ring"/>
          <p:cNvSpPr/>
          <p:nvPr/>
        </p:nvSpPr>
        <p:spPr>
          <a:xfrm>
            <a:off x="9347454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Measure, then decide icon" descr="Measure, then deci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4614" y="187452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7454" y="25146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Measure, then decide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9347454" y="3154680"/>
            <a:ext cx="201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Time saved, errors, support cases and what staff say. Then wider – or stop.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road ahead</a:t>
            </a:r>
            <a:endParaRPr lang="en-US" sz="3200" dirty="0"/>
          </a:p>
        </p:txBody>
      </p:sp>
      <p:sp>
        <p:nvSpPr>
          <p:cNvPr id="3" name="Agreement with Norsk helsenett card"/>
          <p:cNvSpPr/>
          <p:nvPr/>
        </p:nvSpPr>
        <p:spPr>
          <a:xfrm>
            <a:off x="548640" y="146304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4" name="Agreement with Norsk helsenett icon ring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Agreement with Norsk helsenett icon" descr="Agreement with Norsk helsenet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146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Agreement with Norsk helsenett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201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Membership, HelseID and approval – the interface is ready.</a:t>
            </a:r>
            <a:endParaRPr lang="en-US" sz="1400" dirty="0"/>
          </a:p>
        </p:txBody>
      </p:sp>
      <p:sp>
        <p:nvSpPr>
          <p:cNvPr id="8" name="Real health-worker ID cards card"/>
          <p:cNvSpPr/>
          <p:nvPr/>
        </p:nvSpPr>
        <p:spPr>
          <a:xfrm>
            <a:off x="3390138" y="146304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9" name="Real health-worker ID cards icon ring"/>
          <p:cNvSpPr/>
          <p:nvPr/>
        </p:nvSpPr>
        <p:spPr>
          <a:xfrm>
            <a:off x="3664458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Real health-worker ID cards icon" descr="Real health-worker ID card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1618" y="187452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4458" y="25146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Real health-worker ID cards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664458" y="3154680"/>
            <a:ext cx="201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Replace the simulated card reader with a real one (PKCS#11).</a:t>
            </a:r>
            <a:endParaRPr lang="en-US" sz="1400" dirty="0"/>
          </a:p>
        </p:txBody>
      </p:sp>
      <p:sp>
        <p:nvSpPr>
          <p:cNvPr id="13" name="Installation to disk card"/>
          <p:cNvSpPr/>
          <p:nvPr/>
        </p:nvSpPr>
        <p:spPr>
          <a:xfrm>
            <a:off x="6231636" y="146304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14" name="Installation to disk icon ring"/>
          <p:cNvSpPr/>
          <p:nvPr/>
        </p:nvSpPr>
        <p:spPr>
          <a:xfrm>
            <a:off x="6505956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nstallation to disk icon" descr="Installation to dis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3116" y="187452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5956" y="25146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Installation to disk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505956" y="3154680"/>
            <a:ext cx="201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installation mode for IT, with full disk encryption.</a:t>
            </a:r>
            <a:endParaRPr lang="en-US" sz="1400" dirty="0"/>
          </a:p>
        </p:txBody>
      </p:sp>
      <p:sp>
        <p:nvSpPr>
          <p:cNvPr id="18" name="Security audit card"/>
          <p:cNvSpPr/>
          <p:nvPr/>
        </p:nvSpPr>
        <p:spPr>
          <a:xfrm>
            <a:off x="9073134" y="1463040"/>
            <a:ext cx="2567178" cy="2926080"/>
          </a:xfrm>
          <a:prstGeom prst="roundRect">
            <a:avLst>
              <a:gd name="adj" fmla="val 4274"/>
            </a:avLst>
          </a:prstGeom>
          <a:solidFill>
            <a:schemeClr val="bg1"/>
          </a:solidFill>
          <a:ln w="9525">
            <a:solidFill>
              <a:srgbClr val="D2DDD5"/>
            </a:solidFill>
            <a:prstDash val="solid"/>
          </a:ln>
        </p:spPr>
      </p:sp>
      <p:sp>
        <p:nvSpPr>
          <p:cNvPr id="19" name="Security audit icon ring"/>
          <p:cNvSpPr/>
          <p:nvPr/>
        </p:nvSpPr>
        <p:spPr>
          <a:xfrm>
            <a:off x="9347454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Security audit icon" descr="Security audi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4614" y="187452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7454" y="2514600"/>
            <a:ext cx="20185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Security audit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9347454" y="3154680"/>
            <a:ext cx="201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External penetration test, Normen, GDPR and MDR assessment.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dicus">
  <a:themeElements>
    <a:clrScheme name="Medicus">
      <a:dk1>
        <a:srgbClr val="17241C"/>
      </a:dk1>
      <a:lt1>
        <a:srgbClr val="FFFFFF"/>
      </a:lt1>
      <a:dk2>
        <a:srgbClr val="0F4F2F"/>
      </a:dk2>
      <a:lt2>
        <a:srgbClr val="EEF5F0"/>
      </a:lt2>
      <a:accent1>
        <a:srgbClr val="1A7F4B"/>
      </a:accent1>
      <a:accent2>
        <a:srgbClr val="7FE0AD"/>
      </a:accent2>
      <a:accent3>
        <a:srgbClr val="B3261E"/>
      </a:accent3>
      <a:accent4>
        <a:srgbClr val="C98A00"/>
      </a:accent4>
      <a:accent5>
        <a:srgbClr val="2FA36B"/>
      </a:accent5>
      <a:accent6>
        <a:srgbClr val="56655B"/>
      </a:accent6>
      <a:hlink>
        <a:srgbClr val="1A7F4B"/>
      </a:hlink>
      <a:folHlink>
        <a:srgbClr val="0F4F2F"/>
      </a:folHlink>
    </a:clrScheme>
    <a:fontScheme name="Medicu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Medicus</dc:title>
  <dc:subject>How Medicus looks and works</dc:subject>
  <dc:creator>Medicus</dc:creator>
  <cp:lastModifiedBy>Medicus</cp:lastModifiedBy>
  <cp:revision>1</cp:revision>
  <dcterms:created xsi:type="dcterms:W3CDTF">2026-10-24T03:41:00Z</dcterms:created>
  <dcterms:modified xsi:type="dcterms:W3CDTF">2026-10-24T03:41:00Z</dcterms:modified>
</cp:coreProperties>
</file>