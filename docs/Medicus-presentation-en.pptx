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2d6902a-7a5e-dd49-08bb-eae18d1caaf9}">
          <p14:sldIdLst>
            <p14:sldId id="256"/>
            <p14:sldId id="257"/>
          </p14:sldIdLst>
        </p14:section>
        <p14:section name="Start-up" id="{601d5d46-cc80-c986-46ed-3436b1960188}">
          <p14:sldIdLst>
            <p14:sldId id="258"/>
            <p14:sldId id="259"/>
            <p14:sldId id="260"/>
          </p14:sldIdLst>
        </p14:section>
        <p14:section name="Login" id="{37469501-b9f6-a486-ff1c-62eafa410ac7}">
          <p14:sldIdLst>
            <p14:sldId id="261"/>
            <p14:sldId id="262"/>
            <p14:sldId id="263"/>
            <p14:sldId id="264"/>
            <p14:sldId id="265"/>
          </p14:sldIdLst>
        </p14:section>
        <p14:section name="Desktop" id="{89022bae-9d2a-1ddc-14dc-65ba82038423}">
          <p14:sldIdLst>
            <p14:sldId id="266"/>
            <p14:sldId id="267"/>
            <p14:sldId id="268"/>
            <p14:sldId id="269"/>
          </p14:sldIdLst>
        </p14:section>
        <p14:section name="Apps" id="{ae16fbf9-0a32-b493-f765-3449b6525adc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Security" id="{338aa31b-a7be-85b7-4fc9-ee353bd84eb4}">
          <p14:sldIdLst>
            <p14:sldId id="279"/>
            <p14:sldId id="280"/>
          </p14:sldIdLst>
        </p14:section>
        <p14:section name="Shutdown" id="{9882540e-1391-7c3f-e49d-a3aadadf77e7}">
          <p14:sldIdLst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Medicus is a Linux-based operating system for Norwegian healthcare. Every picture in this presentation is a screenshot of the system as it runs, with synthetic test patients and simulated health-worker ID cards. The system itself is in Norwegian.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tel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te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393192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98348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te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kjerm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Medicus · prototype with synthetic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 tittel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Medicus · prototype with synthetic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dicus logo" descr="Medicu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3120"/>
            <a:ext cx="1554480" cy="15544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39319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Medicus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98348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A secure workstation for healthcare staff – from start-up to shutdown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is Medicus</a:t>
            </a:r>
            <a:endParaRPr lang="en-US" sz="3200" dirty="0"/>
          </a:p>
        </p:txBody>
      </p:sp>
      <p:sp>
        <p:nvSpPr>
          <p:cNvPr id="3" name="Card login card"/>
          <p:cNvSpPr/>
          <p:nvPr/>
        </p:nvSpPr>
        <p:spPr>
          <a:xfrm>
            <a:off x="548640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4" name="Card login icon ring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ard login icon" descr="Card log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Card login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Health-worker ID card and PIN. No passwords. Emergency access when lives are at stake.</a:t>
            </a:r>
            <a:endParaRPr lang="en-US" sz="1400" dirty="0"/>
          </a:p>
        </p:txBody>
      </p:sp>
      <p:sp>
        <p:nvSpPr>
          <p:cNvPr id="8" name="Ready for the health network card"/>
          <p:cNvSpPr/>
          <p:nvPr/>
        </p:nvSpPr>
        <p:spPr>
          <a:xfrm>
            <a:off x="3390138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9" name="Ready for the health network icon ring"/>
          <p:cNvSpPr/>
          <p:nvPr/>
        </p:nvSpPr>
        <p:spPr>
          <a:xfrm>
            <a:off x="3664458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Ready for the health network icon" descr="Ready for the health netwo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618" y="18745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4458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Ready for the health network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664458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interface to Helsenorge, the Summary Care Record and e-prescriptions – today against a simulator.</a:t>
            </a:r>
            <a:endParaRPr lang="en-US" sz="1400" dirty="0"/>
          </a:p>
        </p:txBody>
      </p:sp>
      <p:sp>
        <p:nvSpPr>
          <p:cNvPr id="13" name="Hardened security card"/>
          <p:cNvSpPr/>
          <p:nvPr/>
        </p:nvSpPr>
        <p:spPr>
          <a:xfrm>
            <a:off x="6231636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14" name="Hardened security icon ring"/>
          <p:cNvSpPr/>
          <p:nvPr/>
        </p:nvSpPr>
        <p:spPr>
          <a:xfrm>
            <a:off x="6505956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Hardened security icon" descr="Hardened secur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18745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5956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Hardened security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505956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Firewall, USB lock, virus scanning, VPN, and no running programs from the home folder.</a:t>
            </a:r>
            <a:endParaRPr lang="en-US" sz="1400" dirty="0"/>
          </a:p>
        </p:txBody>
      </p:sp>
      <p:sp>
        <p:nvSpPr>
          <p:cNvPr id="18" name="Follows the workplace card"/>
          <p:cNvSpPr/>
          <p:nvPr/>
        </p:nvSpPr>
        <p:spPr>
          <a:xfrm>
            <a:off x="9073134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19" name="Follows the workplace icon ring"/>
          <p:cNvSpPr/>
          <p:nvPr/>
        </p:nvSpPr>
        <p:spPr>
          <a:xfrm>
            <a:off x="9347454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ollows the workplace icon" descr="Follows the workpla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614" y="18745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7454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Follows the workplace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347454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PC knows which hospital it is in. Your position comes with it.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Linux-based, only for machines owned by health trusts, municipalities and the public sector. Its own design, nothing copied from Windows.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Start-up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From pressing the power button to the login screen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boot menu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Starts by itself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after 5 seconds.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Safe mode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for troubleshooting.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Locked: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nobody can change the start-up command. That closes a common way around the login.</a:t>
            </a:r>
            <a:endParaRPr lang="en-US" sz="1500" dirty="0"/>
          </a:p>
        </p:txBody>
      </p:sp>
      <p:sp>
        <p:nvSpPr>
          <p:cNvPr id="4" name="The boot menu frame"/>
          <p:cNvSpPr/>
          <p:nvPr/>
        </p:nvSpPr>
        <p:spPr>
          <a:xfrm>
            <a:off x="4526280" y="1371600"/>
            <a:ext cx="7132320" cy="534924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The boot menu" descr="The boot me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5349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heartbeat shows something is happening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One loading animation: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an ECG line with a pulse.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The same everywhere: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at start-up, at login and in the apps.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No text: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the pulse alone says the machine is working.</a:t>
            </a:r>
            <a:endParaRPr lang="en-US" sz="1500" dirty="0"/>
          </a:p>
        </p:txBody>
      </p:sp>
      <p:sp>
        <p:nvSpPr>
          <p:cNvPr id="4" name="The heartbeat shows something is happening fra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The heartbeat shows something is happening" descr="The heartbeat shows something is happe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Login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Health-worker ID card and PIN – or emergency access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login screen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Insert the card,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type the PIN.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Three wrong PINs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block the card – the screen clearly says IT must unlock 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The workplace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under the logo is the PC's fixed location.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The demo panel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at the bottom simulates the card reader and the workplace.</a:t>
            </a:r>
            <a:endParaRPr lang="en-US" sz="1500" dirty="0"/>
          </a:p>
        </p:txBody>
      </p:sp>
      <p:sp>
        <p:nvSpPr>
          <p:cNvPr id="4" name="The login screen fra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The login screen" descr="The login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card is inserted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Name, position and workplace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are shown at once.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One button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to insert and remove the card.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Remove the card: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you are logged out at once.</a:t>
            </a:r>
            <a:endParaRPr lang="en-US" sz="1500" dirty="0"/>
          </a:p>
        </p:txBody>
      </p:sp>
      <p:sp>
        <p:nvSpPr>
          <p:cNvPr id="4" name="The card is inserted fra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The card is inserted" descr="The card is inser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workplace follows the PC</a:t>
            </a:r>
            <a:endParaRPr lang="en-US" sz="3200" dirty="0"/>
          </a:p>
        </p:txBody>
      </p:sp>
      <p:sp>
        <p:nvSpPr>
          <p:cNvPr id="3" name="The same doctor at Ullevål frame"/>
          <p:cNvSpPr/>
          <p:nvPr/>
        </p:nvSpPr>
        <p:spPr>
          <a:xfrm>
            <a:off x="548640" y="1371600"/>
            <a:ext cx="5394960" cy="3203258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4" name="The same doctor at Ullevål" descr="The same doctor at Ullevå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394960" cy="3203258"/>
          </a:xfrm>
          <a:prstGeom prst="rect">
            <a:avLst/>
          </a:prstGeom>
        </p:spPr>
      </p:pic>
      <p:sp>
        <p:nvSpPr>
          <p:cNvPr id="5" name="The same doctor at St. Olavs frame"/>
          <p:cNvSpPr/>
          <p:nvPr/>
        </p:nvSpPr>
        <p:spPr>
          <a:xfrm>
            <a:off x="6245352" y="1371600"/>
            <a:ext cx="5394960" cy="3203258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The same doctor at St. Olavs" descr="The same doctor at St. Olav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371600"/>
            <a:ext cx="5394960" cy="320325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892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Ullevål: Senior consultant, cardiology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245352" y="4892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St. Olavs: Visiting consultant, cardiology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card says who you are. The PC says where you are. Your position is taken from that workplace.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Emergency access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Card + reason,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no PIN – to save time.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Only critical information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for 30 minutes.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Logged by name,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reviewed afterwards, and the patient is notified.</a:t>
            </a:r>
            <a:endParaRPr lang="en-US" sz="1500" dirty="0"/>
          </a:p>
        </p:txBody>
      </p:sp>
      <p:sp>
        <p:nvSpPr>
          <p:cNvPr id="4" name="Emergency access fra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Emergency access" descr="Emergency acc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desktop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Start menu, shortcuts and standard programs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desktop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Own wallpapers: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Northern Lights, Fjord, Forest and Mountains.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Shortcuts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to the Medicus apps, Home and Trash.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The taskbar: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Start button, shortcuts to the browser and Files, open windows, network, sound, clock and name.</a:t>
            </a:r>
            <a:endParaRPr lang="en-US" sz="1500" dirty="0"/>
          </a:p>
        </p:txBody>
      </p:sp>
      <p:sp>
        <p:nvSpPr>
          <p:cNvPr id="4" name="The desktop fra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The desktop" descr="The desk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Start menu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Favourites: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all the Medicus apps first.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Profile picture: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a neutral health-worker figure.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No terminal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and no "run command".</a:t>
            </a:r>
            <a:endParaRPr lang="en-US" sz="1500" dirty="0"/>
          </a:p>
        </p:txBody>
      </p:sp>
      <p:sp>
        <p:nvSpPr>
          <p:cNvPr id="4" name="The Start menu fra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The Start menu" descr="The Start me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Files – the file manager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 tidy sidebar: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Home, Desktop, Documents, Pictures, Downloads and Trash.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Large icons,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folders first, no menu bar.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One click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from the shortcut on the taskbar.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Plain names: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Files, Pictures, Text and Mouse. Text is Medicus' own text editor.</a:t>
            </a:r>
            <a:endParaRPr lang="en-US" sz="1500" dirty="0"/>
          </a:p>
        </p:txBody>
      </p:sp>
      <p:sp>
        <p:nvSpPr>
          <p:cNvPr id="4" name="Files – the file manager fra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Files – the file manager" descr="Files – the file manag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Apps and features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Patient record, Post, browser, security and tools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Patient record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Critical information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at the top: allergies, conditions, implants.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Visits and notes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from every provider in one place.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E-prescriptions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for doctors.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Every opening is logged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and shown to the patient.</a:t>
            </a:r>
            <a:endParaRPr lang="en-US" sz="1500" dirty="0"/>
          </a:p>
        </p:txBody>
      </p:sp>
      <p:sp>
        <p:nvSpPr>
          <p:cNvPr id="4" name="Patient record fra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Patient record" descr="Patient rec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Medicus Post – phishing warning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Green: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verified health worker in the health network.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Red: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suspicious e-mail, with an explanation in plain language.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Links and attachments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from outside are blocked.</a:t>
            </a:r>
            <a:endParaRPr lang="en-US" sz="1500" dirty="0"/>
          </a:p>
        </p:txBody>
      </p:sp>
      <p:sp>
        <p:nvSpPr>
          <p:cNvPr id="4" name="Medicus Post – phishing warning fra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Medicus Post – phishing warning" descr="Medicus Post – phishing war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Image sharing: X-ray and MRI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DICOM images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are shown right in the message.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Brightness, contrast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and invert.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Virus-scanned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before they are let in.</a:t>
            </a:r>
            <a:endParaRPr lang="en-US" sz="1500" dirty="0"/>
          </a:p>
        </p:txBody>
      </p:sp>
      <p:sp>
        <p:nvSpPr>
          <p:cNvPr id="4" name="Image sharing: X-ray and MRI fra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sharing: X-ray and MRI" descr="Image sharing: X-ray and MR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Medicus Nettleser (the browser)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Its own browser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with its own icon: a light-blue Earth with a rocket in orbit.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Approved websites only: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health, public services and Norwegian news.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No ads or tracking,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nothing is stored, no other brands.</a:t>
            </a:r>
            <a:endParaRPr lang="en-US" sz="1500" dirty="0"/>
          </a:p>
        </p:txBody>
      </p:sp>
      <p:sp>
        <p:nvSpPr>
          <p:cNvPr id="4" name="Medicus Nettleser (the browser) fra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Medicus Nettleser (the browser)" descr="Medicus Nettleser (the browser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Security Center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Checks live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that the protection works.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Green: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all is well. Red: contact 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Firewall, USB, virus,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security log, updates, VPN.</a:t>
            </a:r>
            <a:endParaRPr lang="en-US" sz="1500" dirty="0"/>
          </a:p>
        </p:txBody>
      </p:sp>
      <p:sp>
        <p:nvSpPr>
          <p:cNvPr id="4" name="Security Center fra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Security Center" descr="Security Cen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Patients see who has opened their record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The citizen portal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(simulated Helsenorge).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Name, role, place and reason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for every opening.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Emergency access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is clearly marked.</a:t>
            </a:r>
            <a:endParaRPr lang="en-US" sz="1500" dirty="0"/>
          </a:p>
        </p:txBody>
      </p:sp>
      <p:sp>
        <p:nvSpPr>
          <p:cNvPr id="4" name="Patients see who has opened their record fra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Patients see who has opened their record" descr="Patients see who has opened their rec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Requests from authorities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Only with a legal basis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that applies to that exact authority.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Police, child welfare, NAV, supervisory bodies: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each has its own legal bases. Others need consent.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 person decides,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as little as possible is disclosed, and the patient is notified.</a:t>
            </a:r>
            <a:endParaRPr lang="en-US" sz="1500" dirty="0"/>
          </a:p>
        </p:txBody>
      </p:sp>
      <p:sp>
        <p:nvSpPr>
          <p:cNvPr id="4" name="Requests from authorities fra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Requests from authorities" descr="Requests from authorit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Medicus Calculator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Calculator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with decimal comma.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All units: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µg–kg, µl–litre, teaspoon and tablespoon.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Weight ↔ volume: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e.g. litres → kg, with densities for blood, saline and more.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Warning: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not for medicine dosing.</a:t>
            </a:r>
            <a:endParaRPr lang="en-US" sz="1500" dirty="0"/>
          </a:p>
        </p:txBody>
      </p:sp>
      <p:sp>
        <p:nvSpPr>
          <p:cNvPr id="4" name="Medicus Calculator fra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Medicus Calculator" descr="Medicus Calcula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05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Security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Layer upon layer – no single fault opens everything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Protection in layers</a:t>
            </a:r>
            <a:endParaRPr lang="en-US" sz="3200" dirty="0"/>
          </a:p>
        </p:txBody>
      </p:sp>
      <p:sp>
        <p:nvSpPr>
          <p:cNvPr id="3" name="Firewall card"/>
          <p:cNvSpPr/>
          <p:nvPr/>
        </p:nvSpPr>
        <p:spPr>
          <a:xfrm>
            <a:off x="548640" y="1234440"/>
            <a:ext cx="256717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4" name="Firewall icon ring"/>
          <p:cNvSpPr/>
          <p:nvPr/>
        </p:nvSpPr>
        <p:spPr>
          <a:xfrm>
            <a:off x="82296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irewall icon" descr="Firew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860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Firewall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Nobody can connect from outside. Apps reach only the health network.</a:t>
            </a:r>
            <a:endParaRPr lang="en-US" sz="1400" dirty="0"/>
          </a:p>
        </p:txBody>
      </p:sp>
      <p:sp>
        <p:nvSpPr>
          <p:cNvPr id="8" name="USB lock card"/>
          <p:cNvSpPr/>
          <p:nvPr/>
        </p:nvSpPr>
        <p:spPr>
          <a:xfrm>
            <a:off x="3390138" y="1234440"/>
            <a:ext cx="256717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9" name="USB lock icon ring"/>
          <p:cNvSpPr/>
          <p:nvPr/>
        </p:nvSpPr>
        <p:spPr>
          <a:xfrm>
            <a:off x="3664458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USB lock icon" descr="USB 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618" y="16459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4458" y="22860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USB lock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664458" y="292608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Memory sticks blocked. Only keyboard, mouse, headset and card reader.</a:t>
            </a:r>
            <a:endParaRPr lang="en-US" sz="1400" dirty="0"/>
          </a:p>
        </p:txBody>
      </p:sp>
      <p:sp>
        <p:nvSpPr>
          <p:cNvPr id="13" name="Virus scanning card"/>
          <p:cNvSpPr/>
          <p:nvPr/>
        </p:nvSpPr>
        <p:spPr>
          <a:xfrm>
            <a:off x="6231636" y="1234440"/>
            <a:ext cx="256717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14" name="Virus scanning icon ring"/>
          <p:cNvSpPr/>
          <p:nvPr/>
        </p:nvSpPr>
        <p:spPr>
          <a:xfrm>
            <a:off x="6505956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Virus scanning icon" descr="Virus scan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16459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5956" y="22860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Virus scanning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505956" y="292608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attachment is scanned before it is let in.</a:t>
            </a:r>
            <a:endParaRPr lang="en-US" sz="1400" dirty="0"/>
          </a:p>
        </p:txBody>
      </p:sp>
      <p:sp>
        <p:nvSpPr>
          <p:cNvPr id="18" name="VPN with kill switch card"/>
          <p:cNvSpPr/>
          <p:nvPr/>
        </p:nvSpPr>
        <p:spPr>
          <a:xfrm>
            <a:off x="9073134" y="1234440"/>
            <a:ext cx="256717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19" name="VPN with kill switch icon ring"/>
          <p:cNvSpPr/>
          <p:nvPr/>
        </p:nvSpPr>
        <p:spPr>
          <a:xfrm>
            <a:off x="9347454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VPN with kill switch icon" descr="VPN with kill swit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614" y="16459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7454" y="22860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VPN with kill switch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347454" y="292608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traffic encrypted to the health network, no other way out.</a:t>
            </a:r>
            <a:endParaRPr lang="en-US" sz="1400" dirty="0"/>
          </a:p>
        </p:txBody>
      </p:sp>
      <p:sp>
        <p:nvSpPr>
          <p:cNvPr id="23" name="No running programs card"/>
          <p:cNvSpPr/>
          <p:nvPr/>
        </p:nvSpPr>
        <p:spPr>
          <a:xfrm>
            <a:off x="548640" y="3886200"/>
            <a:ext cx="256717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24" name="No running programs icon ring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No running programs icon" descr="No running program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2976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22960" y="493776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 running programs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822960" y="557784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from the home folder, downloads or temp folders.</a:t>
            </a:r>
            <a:endParaRPr lang="en-US" sz="1400" dirty="0"/>
          </a:p>
        </p:txBody>
      </p:sp>
      <p:sp>
        <p:nvSpPr>
          <p:cNvPr id="28" name="Session guard card"/>
          <p:cNvSpPr/>
          <p:nvPr/>
        </p:nvSpPr>
        <p:spPr>
          <a:xfrm>
            <a:off x="3390138" y="3886200"/>
            <a:ext cx="256717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29" name="Session guard icon ring"/>
          <p:cNvSpPr/>
          <p:nvPr/>
        </p:nvSpPr>
        <p:spPr>
          <a:xfrm>
            <a:off x="3664458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Session guard icon" descr="Session guar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1618" y="429768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664458" y="493776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Session guard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3664458" y="557784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Card out – the session ends immediately.</a:t>
            </a:r>
            <a:endParaRPr lang="en-US" sz="1400" dirty="0"/>
          </a:p>
        </p:txBody>
      </p:sp>
      <p:sp>
        <p:nvSpPr>
          <p:cNvPr id="33" name="Security log card"/>
          <p:cNvSpPr/>
          <p:nvPr/>
        </p:nvSpPr>
        <p:spPr>
          <a:xfrm>
            <a:off x="6231636" y="3886200"/>
            <a:ext cx="256717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34" name="Security log icon ring"/>
          <p:cNvSpPr/>
          <p:nvPr/>
        </p:nvSpPr>
        <p:spPr>
          <a:xfrm>
            <a:off x="6505956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Security log icon" descr="Security lo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4297680"/>
            <a:ext cx="365760" cy="36576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505956" y="493776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Security log</a:t>
            </a:r>
            <a:endParaRPr lang="en-US" sz="1700" dirty="0"/>
          </a:p>
        </p:txBody>
      </p:sp>
      <p:sp>
        <p:nvSpPr>
          <p:cNvPr id="37" name="Text 28"/>
          <p:cNvSpPr txBox="1"/>
          <p:nvPr/>
        </p:nvSpPr>
        <p:spPr>
          <a:xfrm>
            <a:off x="6505956" y="557784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Changes to logins, the firewall and settings are logged.</a:t>
            </a:r>
            <a:endParaRPr lang="en-US" sz="1400" dirty="0"/>
          </a:p>
        </p:txBody>
      </p:sp>
      <p:sp>
        <p:nvSpPr>
          <p:cNvPr id="38" name="Updates card"/>
          <p:cNvSpPr/>
          <p:nvPr/>
        </p:nvSpPr>
        <p:spPr>
          <a:xfrm>
            <a:off x="9073134" y="3886200"/>
            <a:ext cx="256717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39" name="Updates icon ring"/>
          <p:cNvSpPr/>
          <p:nvPr/>
        </p:nvSpPr>
        <p:spPr>
          <a:xfrm>
            <a:off x="9347454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Updates icon" descr="Updat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4614" y="4297680"/>
            <a:ext cx="365760" cy="36576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347454" y="493776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Updates</a:t>
            </a:r>
            <a:endParaRPr lang="en-US" sz="1700" dirty="0"/>
          </a:p>
        </p:txBody>
      </p:sp>
      <p:sp>
        <p:nvSpPr>
          <p:cNvPr id="42" name="Text 32"/>
          <p:cNvSpPr txBox="1"/>
          <p:nvPr/>
        </p:nvSpPr>
        <p:spPr>
          <a:xfrm>
            <a:off x="9347454" y="5577840"/>
            <a:ext cx="2018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Security updates are installed automatically.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06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089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Shutdown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Log out, lock or shut down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power menu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3657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Lock screen,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sleep, restart, shut down, log out.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No hibernate: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it would write patient data to disk.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No "switch user":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the card decides who is logged in.</a:t>
            </a:r>
            <a:endParaRPr lang="en-US" sz="1500" dirty="0"/>
          </a:p>
        </p:txBody>
      </p:sp>
      <p:sp>
        <p:nvSpPr>
          <p:cNvPr id="4" name="The power menu frame"/>
          <p:cNvSpPr/>
          <p:nvPr/>
        </p:nvSpPr>
        <p:spPr>
          <a:xfrm>
            <a:off x="4526280" y="1371600"/>
            <a:ext cx="7132320" cy="4457700"/>
          </a:xfrm>
          <a:prstGeom prst="rect">
            <a:avLst/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The power menu" descr="The power me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371600"/>
            <a:ext cx="7132320" cy="44577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road ahead</a:t>
            </a:r>
            <a:endParaRPr lang="en-US" sz="3200" dirty="0"/>
          </a:p>
        </p:txBody>
      </p:sp>
      <p:sp>
        <p:nvSpPr>
          <p:cNvPr id="3" name="Agreement with Norsk helsenett card"/>
          <p:cNvSpPr/>
          <p:nvPr/>
        </p:nvSpPr>
        <p:spPr>
          <a:xfrm>
            <a:off x="548640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4" name="Agreement with Norsk helsenett icon ring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greement with Norsk helsenett icon" descr="Agreement with Norsk helsenet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Agreement with Norsk helsenett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Membership, HelseID and approval – the interface is ready.</a:t>
            </a:r>
            <a:endParaRPr lang="en-US" sz="1400" dirty="0"/>
          </a:p>
        </p:txBody>
      </p:sp>
      <p:sp>
        <p:nvSpPr>
          <p:cNvPr id="8" name="Real health-worker ID cards card"/>
          <p:cNvSpPr/>
          <p:nvPr/>
        </p:nvSpPr>
        <p:spPr>
          <a:xfrm>
            <a:off x="3390138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9" name="Real health-worker ID cards icon ring"/>
          <p:cNvSpPr/>
          <p:nvPr/>
        </p:nvSpPr>
        <p:spPr>
          <a:xfrm>
            <a:off x="3664458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Real health-worker ID cards icon" descr="Real health-worker ID car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618" y="18745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4458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Real health-worker ID cards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664458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Replace the simulated card reader with a real one (PKCS#11).</a:t>
            </a:r>
            <a:endParaRPr lang="en-US" sz="1400" dirty="0"/>
          </a:p>
        </p:txBody>
      </p:sp>
      <p:sp>
        <p:nvSpPr>
          <p:cNvPr id="13" name="Installation to disk card"/>
          <p:cNvSpPr/>
          <p:nvPr/>
        </p:nvSpPr>
        <p:spPr>
          <a:xfrm>
            <a:off x="6231636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14" name="Installation to disk icon ring"/>
          <p:cNvSpPr/>
          <p:nvPr/>
        </p:nvSpPr>
        <p:spPr>
          <a:xfrm>
            <a:off x="6505956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nstallation to disk icon" descr="Installation to dis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18745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5956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Installation to disk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505956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installation mode for IT, with full disk encryption.</a:t>
            </a:r>
            <a:endParaRPr lang="en-US" sz="1400" dirty="0"/>
          </a:p>
        </p:txBody>
      </p:sp>
      <p:sp>
        <p:nvSpPr>
          <p:cNvPr id="18" name="Security audit card"/>
          <p:cNvSpPr/>
          <p:nvPr/>
        </p:nvSpPr>
        <p:spPr>
          <a:xfrm>
            <a:off x="9073134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chemeClr val="bg1"/>
          </a:solidFill>
          <a:ln w="9525">
            <a:solidFill>
              <a:srgbClr val="D2DDD5"/>
            </a:solidFill>
            <a:prstDash val="solid"/>
          </a:ln>
        </p:spPr>
      </p:sp>
      <p:sp>
        <p:nvSpPr>
          <p:cNvPr id="19" name="Security audit icon ring"/>
          <p:cNvSpPr/>
          <p:nvPr/>
        </p:nvSpPr>
        <p:spPr>
          <a:xfrm>
            <a:off x="9347454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Security audit icon" descr="Security audi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614" y="18745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7454" y="2514600"/>
            <a:ext cx="2018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Security audit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347454" y="3154680"/>
            <a:ext cx="20185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External penetration test, Normen, GDPR and MDR assessment.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icus">
  <a:themeElements>
    <a:clrScheme name="Medicus">
      <a:dk1>
        <a:srgbClr val="17241C"/>
      </a:dk1>
      <a:lt1>
        <a:srgbClr val="FFFFFF"/>
      </a:lt1>
      <a:dk2>
        <a:srgbClr val="0F4F2F"/>
      </a:dk2>
      <a:lt2>
        <a:srgbClr val="EEF5F0"/>
      </a:lt2>
      <a:accent1>
        <a:srgbClr val="1A7F4B"/>
      </a:accent1>
      <a:accent2>
        <a:srgbClr val="7FE0AD"/>
      </a:accent2>
      <a:accent3>
        <a:srgbClr val="B3261E"/>
      </a:accent3>
      <a:accent4>
        <a:srgbClr val="C98A00"/>
      </a:accent4>
      <a:accent5>
        <a:srgbClr val="2FA36B"/>
      </a:accent5>
      <a:accent6>
        <a:srgbClr val="56655B"/>
      </a:accent6>
      <a:hlink>
        <a:srgbClr val="1A7F4B"/>
      </a:hlink>
      <a:folHlink>
        <a:srgbClr val="0F4F2F"/>
      </a:folHlink>
    </a:clrScheme>
    <a:fontScheme name="Medicu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Medicus</dc:title>
  <dc:subject>How Medicus looks and works</dc:subject>
  <dc:creator>Medicus</dc:creator>
  <cp:lastModifiedBy>Medicus</cp:lastModifiedBy>
  <cp:revision>1</cp:revision>
  <dcterms:created xsi:type="dcterms:W3CDTF">2026-10-23T21:31:54Z</dcterms:created>
  <dcterms:modified xsi:type="dcterms:W3CDTF">2026-10-23T21:31:54Z</dcterms:modified>
</cp:coreProperties>
</file>